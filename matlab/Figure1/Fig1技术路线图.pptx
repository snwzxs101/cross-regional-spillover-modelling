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7497763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021" autoAdjust="0"/>
  </p:normalViewPr>
  <p:slideViewPr>
    <p:cSldViewPr snapToGrid="0">
      <p:cViewPr>
        <p:scale>
          <a:sx n="70" d="100"/>
          <a:sy n="70" d="100"/>
        </p:scale>
        <p:origin x="906" y="3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A3BA6-80FF-44B9-B84B-48790F840B3C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46138" y="1336675"/>
            <a:ext cx="58674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788BB-2AF1-42A4-AC2A-6DA8B694A7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0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788BB-2AF1-42A4-AC2A-6DA8B694A7E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0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137908-2AD8-4FE7-BF65-A062A3B2FF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230C21-D79B-44C6-ADA2-3B7F362EC6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459EDF-D6C3-4C89-B24F-A9781F8BD6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718A91-7A6F-4307-8C89-2AE58667A1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83E5D2-33AE-485A-8154-7582F71FF8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ADC5F4-BDC2-4DFD-AD22-58137D9F88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D3C16B-8C30-471A-95DA-0B666ECC8E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91F0C6-8394-472A-8C15-CC584BD515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296C5F-E479-4A64-8629-4923004FDA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80BDA6-06A5-490E-9DB7-D0755B0997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A00A5D-AA29-4991-9479-2E904DC8F4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5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38.png"/><Relationship Id="rId47" Type="http://schemas.openxmlformats.org/officeDocument/2006/relationships/image" Target="../media/image43.png"/><Relationship Id="rId50" Type="http://schemas.openxmlformats.org/officeDocument/2006/relationships/image" Target="../media/image4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20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10.png"/><Relationship Id="rId49" Type="http://schemas.openxmlformats.org/officeDocument/2006/relationships/image" Target="../media/image45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39.png"/><Relationship Id="rId48" Type="http://schemas.openxmlformats.org/officeDocument/2006/relationships/image" Target="../media/image44.png"/><Relationship Id="rId8" Type="http://schemas.openxmlformats.org/officeDocument/2006/relationships/image" Target="../media/image6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4.png"/><Relationship Id="rId46" Type="http://schemas.openxmlformats.org/officeDocument/2006/relationships/image" Target="../media/image42.png"/><Relationship Id="rId20" Type="http://schemas.openxmlformats.org/officeDocument/2006/relationships/image" Target="../media/image18.png"/><Relationship Id="rId41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1"/>
          <p:cNvSpPr/>
          <p:nvPr/>
        </p:nvSpPr>
        <p:spPr>
          <a:xfrm>
            <a:off x="114292" y="45720"/>
            <a:ext cx="3887552" cy="364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466200" y="48352"/>
            <a:ext cx="3508920" cy="287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Study setting and epidemic data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466200" y="330813"/>
            <a:ext cx="3508920" cy="179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Two neighboring provinces in South China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Rounded Rectangle 181"/>
          <p:cNvSpPr/>
          <p:nvPr/>
        </p:nvSpPr>
        <p:spPr>
          <a:xfrm>
            <a:off x="4161960" y="57482"/>
            <a:ext cx="3984120" cy="364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83"/>
          <p:cNvSpPr/>
          <p:nvPr/>
        </p:nvSpPr>
        <p:spPr>
          <a:xfrm>
            <a:off x="4653242" y="48987"/>
            <a:ext cx="3508920" cy="287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Two-region mechanistic model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184"/>
          <p:cNvSpPr/>
          <p:nvPr/>
        </p:nvSpPr>
        <p:spPr>
          <a:xfrm>
            <a:off x="4711777" y="330813"/>
            <a:ext cx="3508920" cy="179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Coupled epidemic system with bidirectional spillover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Rounded Rectangle 185"/>
          <p:cNvSpPr/>
          <p:nvPr/>
        </p:nvSpPr>
        <p:spPr>
          <a:xfrm>
            <a:off x="4231439" y="612720"/>
            <a:ext cx="1682667" cy="1366644"/>
          </a:xfrm>
          <a:prstGeom prst="roundRect">
            <a:avLst>
              <a:gd name="adj" fmla="val 16667"/>
            </a:avLst>
          </a:prstGeom>
          <a:solidFill>
            <a:srgbClr val="ECF5FC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ounded Rectangle 186"/>
          <p:cNvSpPr/>
          <p:nvPr/>
        </p:nvSpPr>
        <p:spPr>
          <a:xfrm>
            <a:off x="6349390" y="612720"/>
            <a:ext cx="1725796" cy="1355627"/>
          </a:xfrm>
          <a:prstGeom prst="roundRect">
            <a:avLst>
              <a:gd name="adj" fmla="val 16667"/>
            </a:avLst>
          </a:prstGeom>
          <a:solidFill>
            <a:srgbClr val="ECFAF3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TextBox 187"/>
              <p:cNvSpPr/>
              <p:nvPr/>
            </p:nvSpPr>
            <p:spPr>
              <a:xfrm>
                <a:off x="4482092" y="619859"/>
                <a:ext cx="1287715" cy="18702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50" b="1" u="none" strike="noStrike" dirty="0">
                    <a:solidFill>
                      <a:srgbClr val="1E3CA0"/>
                    </a:solidFill>
                    <a:effectLst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Guangdong (</a:t>
                </a:r>
                <a14:m>
                  <m:oMath xmlns:m="http://schemas.openxmlformats.org/officeDocument/2006/math">
                    <m:r>
                      <a:rPr lang="en-US" sz="1050" b="1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1050" b="1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1050" b="1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1050" b="1" u="none" strike="noStrike" dirty="0">
                    <a:solidFill>
                      <a:srgbClr val="1E3CA0"/>
                    </a:solidFill>
                    <a:effectLst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US" sz="1050" b="0" u="none" strike="noStrike" dirty="0">
                  <a:solidFill>
                    <a:srgbClr val="00000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3" name="TextBox 1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092" y="619859"/>
                <a:ext cx="1287715" cy="187029"/>
              </a:xfrm>
              <a:prstGeom prst="rect">
                <a:avLst/>
              </a:prstGeom>
              <a:blipFill>
                <a:blip r:embed="rId3"/>
                <a:stretch>
                  <a:fillRect l="-948" t="-16667" r="-1422" b="-36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TextBox 188"/>
              <p:cNvSpPr/>
              <p:nvPr/>
            </p:nvSpPr>
            <p:spPr>
              <a:xfrm>
                <a:off x="6694342" y="638644"/>
                <a:ext cx="1051200" cy="18702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50" b="1" u="none" strike="noStrike" dirty="0">
                    <a:solidFill>
                      <a:srgbClr val="1E3CA0"/>
                    </a:solidFill>
                    <a:effectLst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Guangxi (</a:t>
                </a:r>
                <a14:m>
                  <m:oMath xmlns:m="http://schemas.openxmlformats.org/officeDocument/2006/math">
                    <m:r>
                      <a:rPr lang="en-US" sz="1050" b="1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1050" b="1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1050" b="1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US" sz="1050" b="1" u="none" strike="noStrike" dirty="0">
                    <a:solidFill>
                      <a:srgbClr val="1E3CA0"/>
                    </a:solidFill>
                    <a:effectLst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US" sz="1050" b="0" u="none" strike="noStrike" dirty="0">
                  <a:solidFill>
                    <a:srgbClr val="00000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4" name="TextBox 1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342" y="638644"/>
                <a:ext cx="1051200" cy="187029"/>
              </a:xfrm>
              <a:prstGeom prst="rect">
                <a:avLst/>
              </a:prstGeom>
              <a:blipFill>
                <a:blip r:embed="rId4"/>
                <a:stretch>
                  <a:fillRect l="-4046" t="-16667" r="-3468" b="-36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Rounded Rectangle 189"/>
              <p:cNvSpPr/>
              <p:nvPr/>
            </p:nvSpPr>
            <p:spPr>
              <a:xfrm>
                <a:off x="4384713" y="960120"/>
                <a:ext cx="248847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5FC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5" name="Rounded Rectangle 1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713" y="960120"/>
                <a:ext cx="248847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Rounded Rectangle 190"/>
              <p:cNvSpPr/>
              <p:nvPr/>
            </p:nvSpPr>
            <p:spPr>
              <a:xfrm>
                <a:off x="483516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5FC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6" name="Rounded Rectangle 1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16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Rounded Rectangle 191"/>
              <p:cNvSpPr/>
              <p:nvPr/>
            </p:nvSpPr>
            <p:spPr>
              <a:xfrm>
                <a:off x="529236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5FC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7" name="Rounded Rectangle 1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36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Rounded Rectangle 192"/>
              <p:cNvSpPr/>
              <p:nvPr/>
            </p:nvSpPr>
            <p:spPr>
              <a:xfrm>
                <a:off x="4377960" y="1508760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5FC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8" name="Rounded Rectangle 1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960" y="1508760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Rounded Rectangle 193"/>
              <p:cNvSpPr/>
              <p:nvPr/>
            </p:nvSpPr>
            <p:spPr>
              <a:xfrm>
                <a:off x="4826716" y="1523447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5FC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9" name="Rounded Rectangle 1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16" y="1523447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Rounded Rectangle 194"/>
              <p:cNvSpPr/>
              <p:nvPr/>
            </p:nvSpPr>
            <p:spPr>
              <a:xfrm>
                <a:off x="5303445" y="1540735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5FC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50" name="Rounded Rectangle 1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445" y="1540735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196"/>
              <p:cNvSpPr/>
              <p:nvPr/>
            </p:nvSpPr>
            <p:spPr>
              <a:xfrm>
                <a:off x="4590218" y="829289"/>
                <a:ext cx="292320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2" name="TextBox 1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218" y="829289"/>
                <a:ext cx="292320" cy="148557"/>
              </a:xfrm>
              <a:prstGeom prst="rect">
                <a:avLst/>
              </a:prstGeom>
              <a:blipFill>
                <a:blip r:embed="rId11"/>
                <a:stretch>
                  <a:fillRect l="-4167" t="-12500" r="-12500" b="-375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198"/>
              <p:cNvSpPr/>
              <p:nvPr/>
            </p:nvSpPr>
            <p:spPr>
              <a:xfrm>
                <a:off x="5133533" y="828461"/>
                <a:ext cx="132529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54" name="TextBox 1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533" y="828461"/>
                <a:ext cx="132529" cy="148557"/>
              </a:xfrm>
              <a:prstGeom prst="rect">
                <a:avLst/>
              </a:prstGeom>
              <a:blipFill>
                <a:blip r:embed="rId12"/>
                <a:stretch>
                  <a:fillRect l="-4545" t="-12500" r="-27273" b="-375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00"/>
              <p:cNvSpPr/>
              <p:nvPr/>
            </p:nvSpPr>
            <p:spPr>
              <a:xfrm>
                <a:off x="4215788" y="1288409"/>
                <a:ext cx="335332" cy="14086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75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6" name="TextBox 2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788" y="1288409"/>
                <a:ext cx="335332" cy="140862"/>
              </a:xfrm>
              <a:prstGeom prst="rect">
                <a:avLst/>
              </a:prstGeom>
              <a:blipFill>
                <a:blip r:embed="rId13"/>
                <a:stretch>
                  <a:fillRect t="-13043" r="-1818" b="-391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TextBox 202"/>
              <p:cNvSpPr/>
              <p:nvPr/>
            </p:nvSpPr>
            <p:spPr>
              <a:xfrm>
                <a:off x="4604848" y="1282638"/>
                <a:ext cx="146211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58" name="TextBox 2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848" y="1282638"/>
                <a:ext cx="146211" cy="148557"/>
              </a:xfrm>
              <a:prstGeom prst="rect">
                <a:avLst/>
              </a:prstGeom>
              <a:blipFill>
                <a:blip r:embed="rId14"/>
                <a:stretch>
                  <a:fillRect b="-12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Box 204"/>
              <p:cNvSpPr/>
              <p:nvPr/>
            </p:nvSpPr>
            <p:spPr>
              <a:xfrm>
                <a:off x="5375700" y="1266613"/>
                <a:ext cx="424250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800" b="0" i="1" u="none" strike="noStrike" dirty="0" err="1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>
          <p:sp>
            <p:nvSpPr>
              <p:cNvPr id="260" name="TextBox 2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700" y="1266613"/>
                <a:ext cx="424250" cy="14855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1" name="TextBox 205"/>
          <p:cNvSpPr/>
          <p:nvPr/>
        </p:nvSpPr>
        <p:spPr>
          <a:xfrm>
            <a:off x="4960001" y="1821708"/>
            <a:ext cx="859366" cy="1485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(reported cases)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Rounded Rectangle 206"/>
              <p:cNvSpPr/>
              <p:nvPr/>
            </p:nvSpPr>
            <p:spPr>
              <a:xfrm>
                <a:off x="642600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AF3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en-US" altLang="zh-CN" sz="10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 xmlns="">
          <p:sp>
            <p:nvSpPr>
              <p:cNvPr id="262" name="Rounded Rectangle 2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0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Rounded Rectangle 207"/>
              <p:cNvSpPr/>
              <p:nvPr/>
            </p:nvSpPr>
            <p:spPr>
              <a:xfrm>
                <a:off x="6894217" y="963792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AF3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en-US" altLang="zh-CN" sz="10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 xmlns="">
          <p:sp>
            <p:nvSpPr>
              <p:cNvPr id="263" name="Rounded Rectangle 2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17" y="963792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Rounded Rectangle 208"/>
              <p:cNvSpPr/>
              <p:nvPr/>
            </p:nvSpPr>
            <p:spPr>
              <a:xfrm>
                <a:off x="734040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AF3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en-US" altLang="zh-CN" sz="10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 xmlns="">
          <p:sp>
            <p:nvSpPr>
              <p:cNvPr id="264" name="Rounded Rectangle 2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400" y="960120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Rounded Rectangle 209"/>
              <p:cNvSpPr/>
              <p:nvPr/>
            </p:nvSpPr>
            <p:spPr>
              <a:xfrm>
                <a:off x="6426000" y="1508760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AF3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𝑞𝑖</m:t>
                          </m:r>
                        </m:sub>
                      </m:sSub>
                    </m:oMath>
                  </m:oMathPara>
                </a14:m>
                <a:endParaRPr lang="en-US" altLang="zh-CN" sz="10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 xmlns="">
          <p:sp>
            <p:nvSpPr>
              <p:cNvPr id="265" name="Rounded Rectangle 2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00" y="1508760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Rounded Rectangle 210"/>
              <p:cNvSpPr/>
              <p:nvPr/>
            </p:nvSpPr>
            <p:spPr>
              <a:xfrm>
                <a:off x="6886134" y="1530791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AF3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0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𝑞𝑖</m:t>
                          </m:r>
                        </m:sub>
                      </m:sSub>
                    </m:oMath>
                  </m:oMathPara>
                </a14:m>
                <a:endParaRPr lang="en-US" altLang="zh-CN" sz="10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 xmlns="">
          <p:sp>
            <p:nvSpPr>
              <p:cNvPr id="266" name="Rounded Rectangle 2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134" y="1530791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20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Rounded Rectangle 211"/>
              <p:cNvSpPr/>
              <p:nvPr/>
            </p:nvSpPr>
            <p:spPr>
              <a:xfrm>
                <a:off x="7387789" y="1578742"/>
                <a:ext cx="255600" cy="219240"/>
              </a:xfrm>
              <a:prstGeom prst="roundRect">
                <a:avLst>
                  <a:gd name="adj" fmla="val 16667"/>
                </a:avLst>
              </a:prstGeom>
              <a:solidFill>
                <a:srgbClr val="ECFAF3"/>
              </a:solid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0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en-US" altLang="zh-CN" sz="10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>
          <p:sp>
            <p:nvSpPr>
              <p:cNvPr id="267" name="Rounded Rectangle 2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789" y="1578742"/>
                <a:ext cx="255600" cy="219240"/>
              </a:xfrm>
              <a:prstGeom prst="roundRect">
                <a:avLst>
                  <a:gd name="adj" fmla="val 16667"/>
                </a:avLst>
              </a:prstGeom>
              <a:blipFill>
                <a:blip r:embed="rId21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15"/>
              <p:cNvSpPr/>
              <p:nvPr/>
            </p:nvSpPr>
            <p:spPr>
              <a:xfrm>
                <a:off x="7200700" y="867772"/>
                <a:ext cx="91080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71" name="TextBox 2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700" y="867772"/>
                <a:ext cx="91080" cy="148557"/>
              </a:xfrm>
              <a:prstGeom prst="rect">
                <a:avLst/>
              </a:prstGeom>
              <a:blipFill>
                <a:blip r:embed="rId22"/>
                <a:stretch>
                  <a:fillRect l="-33333" t="-12000" r="-66667" b="-32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19"/>
              <p:cNvSpPr/>
              <p:nvPr/>
            </p:nvSpPr>
            <p:spPr>
              <a:xfrm>
                <a:off x="6889215" y="1289606"/>
                <a:ext cx="149146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CN" sz="8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 xmlns="">
          <p:sp>
            <p:nvSpPr>
              <p:cNvPr id="275" name="TextBox 2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215" y="1289606"/>
                <a:ext cx="149146" cy="148557"/>
              </a:xfrm>
              <a:prstGeom prst="rect">
                <a:avLst/>
              </a:prstGeom>
              <a:blipFill>
                <a:blip r:embed="rId23"/>
                <a:stretch>
                  <a:fillRect b="-125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7" name="TextBox 221"/>
              <p:cNvSpPr/>
              <p:nvPr/>
            </p:nvSpPr>
            <p:spPr>
              <a:xfrm>
                <a:off x="7588256" y="1258918"/>
                <a:ext cx="314572" cy="16394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9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900" b="0" i="1" u="none" strike="noStrike" dirty="0" err="1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9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90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277" name="TextBox 2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56" y="1258918"/>
                <a:ext cx="314572" cy="163946"/>
              </a:xfrm>
              <a:prstGeom prst="rect">
                <a:avLst/>
              </a:prstGeom>
              <a:blipFill>
                <a:blip r:embed="rId24"/>
                <a:stretch>
                  <a:fillRect l="-5882" b="-1923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TextBox 222"/>
          <p:cNvSpPr/>
          <p:nvPr/>
        </p:nvSpPr>
        <p:spPr>
          <a:xfrm>
            <a:off x="7123438" y="1822857"/>
            <a:ext cx="711737" cy="1485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(reported cases)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26"/>
              <p:cNvSpPr/>
              <p:nvPr/>
            </p:nvSpPr>
            <p:spPr>
              <a:xfrm>
                <a:off x="5914107" y="1418599"/>
                <a:ext cx="363785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800" b="0" i="0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2→1</m:t>
                          </m:r>
                        </m:sub>
                      </m:sSub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u="none" strike="noStrike" dirty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2" name="TextBox 2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107" y="1418599"/>
                <a:ext cx="363785" cy="148557"/>
              </a:xfrm>
              <a:prstGeom prst="rect">
                <a:avLst/>
              </a:prstGeom>
              <a:blipFill>
                <a:blip r:embed="rId25"/>
                <a:stretch>
                  <a:fillRect l="-15000" t="-16667" r="-23333" b="-333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Rounded Rectangle 227"/>
              <p:cNvSpPr/>
              <p:nvPr/>
            </p:nvSpPr>
            <p:spPr>
              <a:xfrm>
                <a:off x="4657956" y="2400120"/>
                <a:ext cx="2876088" cy="215385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rgbClr val="DCDCD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altLang="zh-CN" sz="83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Within-region transmission hazard </a:t>
                </a:r>
                <a:r>
                  <a:rPr lang="en-US" altLang="zh-CN" sz="830" b="0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830" b="0" u="none" strike="noStrike" dirty="0" err="1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830" b="0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83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83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90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9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sSub>
                      <m:sSubPr>
                        <m:ctrlPr>
                          <a:rPr lang="en-US" altLang="zh-CN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en-US" sz="90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9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83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3" name="Rounded Rectangle 2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956" y="2400120"/>
                <a:ext cx="2876088" cy="215385"/>
              </a:xfrm>
              <a:prstGeom prst="roundRect">
                <a:avLst>
                  <a:gd name="adj" fmla="val 16667"/>
                </a:avLst>
              </a:prstGeom>
              <a:blipFill>
                <a:blip r:embed="rId26"/>
                <a:stretch>
                  <a:fillRect l="-633" b="-13514"/>
                </a:stretch>
              </a:blipFill>
              <a:ln w="12700">
                <a:solidFill>
                  <a:srgbClr val="DCDCDC"/>
                </a:solidFill>
                <a:rou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Rounded Rectangle 228"/>
              <p:cNvSpPr/>
              <p:nvPr/>
            </p:nvSpPr>
            <p:spPr>
              <a:xfrm>
                <a:off x="4607379" y="2704753"/>
                <a:ext cx="3124035" cy="297264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82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Reported cumulative cases</a:t>
                </a:r>
                <a:r>
                  <a:rPr lang="en-US" sz="82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900" b="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9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90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sSub>
                      <m:sSubPr>
                        <m:ctrlPr>
                          <a:rPr lang="en-US" sz="90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sSub>
                      <m:sSubPr>
                        <m:ctrlPr>
                          <a:rPr lang="en-US" sz="90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en-US" sz="90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90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9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90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9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82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4" name="Rounded Rectangle 2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379" y="2704753"/>
                <a:ext cx="3124035" cy="297264"/>
              </a:xfrm>
              <a:prstGeom prst="roundRect">
                <a:avLst>
                  <a:gd name="adj" fmla="val 16667"/>
                </a:avLst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Rounded Rectangle 229"/>
              <p:cNvSpPr/>
              <p:nvPr/>
            </p:nvSpPr>
            <p:spPr>
              <a:xfrm>
                <a:off x="4215172" y="2063213"/>
                <a:ext cx="3908451" cy="232080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rgbClr val="DCDCD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80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Cross-regional spillover: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800" b="0" i="0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en-US" altLang="zh-CN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8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800" b="0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ctrlPr>
                          <a:rPr lang="en-US" altLang="zh-CN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8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8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8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8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en-US" sz="8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sz="8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sSub>
                      <m:sSubPr>
                        <m:ctrlP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8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sSub>
                      <m:sSubPr>
                        <m:ctrlP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8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8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en-US" sz="8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8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8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800" b="0" i="1" u="none" strike="noStrike" dirty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800" b="0" i="1" u="none" strike="noStrike" dirty="0" smtClean="0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800" b="0" i="1" u="none" strike="noStrike" dirty="0" err="1">
                                <a:solidFill>
                                  <a:srgbClr val="1E3CA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800" b="0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800" i="1" dirty="0" smtClean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dirty="0" smtClean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800" i="1" dirty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800" i="1" dirty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800" i="1" dirty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800" i="1" dirty="0">
                        <a:solidFill>
                          <a:srgbClr val="1E3C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sSub>
                      <m:sSubPr>
                        <m:ctrlPr>
                          <a:rPr lang="en-US" altLang="zh-CN" sz="800" i="1" dirty="0" err="1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dirty="0" smtClean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800" b="0" i="1" dirty="0" smtClean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800" i="1" dirty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800" i="1" dirty="0">
                            <a:solidFill>
                              <a:srgbClr val="1E3C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5" name="Rounded Rectangle 2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172" y="2063213"/>
                <a:ext cx="3908451" cy="232080"/>
              </a:xfrm>
              <a:prstGeom prst="roundRect">
                <a:avLst>
                  <a:gd name="adj" fmla="val 16667"/>
                </a:avLst>
              </a:prstGeom>
              <a:blipFill>
                <a:blip r:embed="rId28"/>
                <a:stretch>
                  <a:fillRect l="-466"/>
                </a:stretch>
              </a:blipFill>
              <a:ln w="12700">
                <a:solidFill>
                  <a:srgbClr val="DCDCDC"/>
                </a:solidFill>
                <a:rou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6" name="Rounded Rectangle 230"/>
              <p:cNvSpPr/>
              <p:nvPr/>
            </p:nvSpPr>
            <p:spPr>
              <a:xfrm>
                <a:off x="4954516" y="3099393"/>
                <a:ext cx="2478247" cy="211689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83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Daily reported cases</a:t>
                </a:r>
                <a:r>
                  <a:rPr lang="en-US" sz="830" b="1" dirty="0">
                    <a:solidFill>
                      <a:srgbClr val="1E3C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900" b="0" i="1" u="none" strike="noStrike" dirty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900" b="0" i="1" u="none" strike="noStrike" dirty="0" err="1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9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900" b="0" i="1" u="none" strike="noStrike" dirty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sz="830" b="1" dirty="0">
                  <a:solidFill>
                    <a:srgbClr val="1E3C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6" name="Rounded Rectangle 2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516" y="3099393"/>
                <a:ext cx="2478247" cy="211689"/>
              </a:xfrm>
              <a:prstGeom prst="roundRect">
                <a:avLst>
                  <a:gd name="adj" fmla="val 16667"/>
                </a:avLst>
              </a:prstGeom>
              <a:blipFill>
                <a:blip r:embed="rId29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Rounded Rectangle 231"/>
              <p:cNvSpPr/>
              <p:nvPr/>
            </p:nvSpPr>
            <p:spPr>
              <a:xfrm>
                <a:off x="5368386" y="3391537"/>
                <a:ext cx="1710855" cy="225240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76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constants</a:t>
                </a:r>
                <a:r>
                  <a:rPr lang="en-US" sz="760" b="1" dirty="0">
                    <a:solidFill>
                      <a:srgbClr val="1E3C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b="0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000" b="0" i="1" u="none" strike="noStrike" dirty="0" smtClean="0">
                        <a:solidFill>
                          <a:srgbClr val="1E3CA0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0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000" b="0" i="1" u="none" strike="noStrike" dirty="0" smtClean="0">
                            <a:solidFill>
                              <a:srgbClr val="1E3CA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US" sz="760" b="1" dirty="0">
                  <a:solidFill>
                    <a:srgbClr val="1E3C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7" name="Rounded Rectangle 2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386" y="3391537"/>
                <a:ext cx="1710855" cy="225240"/>
              </a:xfrm>
              <a:prstGeom prst="roundRect">
                <a:avLst>
                  <a:gd name="adj" fmla="val 16667"/>
                </a:avLst>
              </a:prstGeom>
              <a:blipFill>
                <a:blip r:embed="rId30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ounded Rectangle 232"/>
          <p:cNvSpPr/>
          <p:nvPr/>
        </p:nvSpPr>
        <p:spPr>
          <a:xfrm>
            <a:off x="8214180" y="45720"/>
            <a:ext cx="3903430" cy="364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34"/>
          <p:cNvSpPr/>
          <p:nvPr/>
        </p:nvSpPr>
        <p:spPr>
          <a:xfrm>
            <a:off x="8582040" y="48352"/>
            <a:ext cx="3508920" cy="287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UDE-based inference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TextBox 235"/>
          <p:cNvSpPr/>
          <p:nvPr/>
        </p:nvSpPr>
        <p:spPr>
          <a:xfrm>
            <a:off x="8568788" y="309609"/>
            <a:ext cx="3508920" cy="179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Neural time-varying functions with differentiable RK4 integration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Rounded Rectangle 236"/>
          <p:cNvSpPr/>
          <p:nvPr/>
        </p:nvSpPr>
        <p:spPr>
          <a:xfrm>
            <a:off x="8251153" y="583802"/>
            <a:ext cx="1619066" cy="1878451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neural networks (time-varying functions)</a:t>
            </a:r>
          </a:p>
          <a:p>
            <a:pPr algn="ctr" defTabSz="457200">
              <a:lnSpc>
                <a:spcPct val="100000"/>
              </a:lnSpc>
            </a:pPr>
            <a:endParaRPr lang="en-US" sz="1050" b="1" u="none" strike="noStrike" dirty="0">
              <a:solidFill>
                <a:srgbClr val="1E3CA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50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050" b="1" dirty="0">
              <a:solidFill>
                <a:srgbClr val="1E3CA0"/>
              </a:solidFill>
              <a:latin typeface="Cambria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B685BD7-D6E2-7F31-7300-F516893D4F8A}"/>
              </a:ext>
            </a:extLst>
          </p:cNvPr>
          <p:cNvGrpSpPr/>
          <p:nvPr/>
        </p:nvGrpSpPr>
        <p:grpSpPr>
          <a:xfrm>
            <a:off x="8649944" y="1070674"/>
            <a:ext cx="418769" cy="465548"/>
            <a:chOff x="8689163" y="941760"/>
            <a:chExt cx="660397" cy="694800"/>
          </a:xfrm>
        </p:grpSpPr>
        <p:sp>
          <p:nvSpPr>
            <p:cNvPr id="294" name="Oval 238"/>
            <p:cNvSpPr/>
            <p:nvPr/>
          </p:nvSpPr>
          <p:spPr>
            <a:xfrm>
              <a:off x="8966160" y="94176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5" name="Oval 239"/>
            <p:cNvSpPr/>
            <p:nvPr/>
          </p:nvSpPr>
          <p:spPr>
            <a:xfrm>
              <a:off x="9258480" y="94176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6" name="Oval 240"/>
            <p:cNvSpPr/>
            <p:nvPr/>
          </p:nvSpPr>
          <p:spPr>
            <a:xfrm>
              <a:off x="8689163" y="124865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7" name="Oval 241"/>
            <p:cNvSpPr/>
            <p:nvPr/>
          </p:nvSpPr>
          <p:spPr>
            <a:xfrm>
              <a:off x="8966160" y="114300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8" name="Oval 242"/>
            <p:cNvSpPr/>
            <p:nvPr/>
          </p:nvSpPr>
          <p:spPr>
            <a:xfrm>
              <a:off x="9258480" y="114300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0" name="Oval 244"/>
            <p:cNvSpPr/>
            <p:nvPr/>
          </p:nvSpPr>
          <p:spPr>
            <a:xfrm>
              <a:off x="8966160" y="134424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1" name="Oval 245"/>
            <p:cNvSpPr/>
            <p:nvPr/>
          </p:nvSpPr>
          <p:spPr>
            <a:xfrm>
              <a:off x="9258480" y="134424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3" name="Oval 247"/>
            <p:cNvSpPr/>
            <p:nvPr/>
          </p:nvSpPr>
          <p:spPr>
            <a:xfrm>
              <a:off x="8966160" y="154548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4" name="Oval 248"/>
            <p:cNvSpPr/>
            <p:nvPr/>
          </p:nvSpPr>
          <p:spPr>
            <a:xfrm>
              <a:off x="9258480" y="154548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09" name="Connector 253"/>
            <p:cNvCxnSpPr/>
            <p:nvPr/>
          </p:nvCxnSpPr>
          <p:spPr>
            <a:xfrm>
              <a:off x="9011520" y="98748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11" name="Connector 255"/>
            <p:cNvCxnSpPr/>
            <p:nvPr/>
          </p:nvCxnSpPr>
          <p:spPr>
            <a:xfrm>
              <a:off x="9011520" y="98748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13" name="Connector 257"/>
            <p:cNvCxnSpPr/>
            <p:nvPr/>
          </p:nvCxnSpPr>
          <p:spPr>
            <a:xfrm>
              <a:off x="9011520" y="98748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15" name="Connector 259"/>
            <p:cNvCxnSpPr/>
            <p:nvPr/>
          </p:nvCxnSpPr>
          <p:spPr>
            <a:xfrm>
              <a:off x="9011520" y="987480"/>
              <a:ext cx="293040" cy="60372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18" name="Connector 262"/>
            <p:cNvCxnSpPr>
              <a:cxnSpLocks/>
              <a:stCxn id="296" idx="7"/>
            </p:cNvCxnSpPr>
            <p:nvPr/>
          </p:nvCxnSpPr>
          <p:spPr>
            <a:xfrm flipV="1">
              <a:off x="8766904" y="987480"/>
              <a:ext cx="244976" cy="274508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19" name="Connector 263"/>
            <p:cNvCxnSpPr/>
            <p:nvPr/>
          </p:nvCxnSpPr>
          <p:spPr>
            <a:xfrm flipV="1">
              <a:off x="9011520" y="98748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0" name="Connector 264"/>
            <p:cNvCxnSpPr>
              <a:cxnSpLocks/>
              <a:stCxn id="296" idx="6"/>
            </p:cNvCxnSpPr>
            <p:nvPr/>
          </p:nvCxnSpPr>
          <p:spPr>
            <a:xfrm flipV="1">
              <a:off x="8780243" y="1189079"/>
              <a:ext cx="231637" cy="105111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1" name="Connector 265"/>
            <p:cNvCxnSpPr/>
            <p:nvPr/>
          </p:nvCxnSpPr>
          <p:spPr>
            <a:xfrm>
              <a:off x="9011520" y="118872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2" name="Connector 266"/>
            <p:cNvCxnSpPr>
              <a:cxnSpLocks/>
              <a:stCxn id="296" idx="6"/>
            </p:cNvCxnSpPr>
            <p:nvPr/>
          </p:nvCxnSpPr>
          <p:spPr>
            <a:xfrm>
              <a:off x="8780243" y="1294190"/>
              <a:ext cx="231638" cy="95769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3" name="Connector 267"/>
            <p:cNvCxnSpPr/>
            <p:nvPr/>
          </p:nvCxnSpPr>
          <p:spPr>
            <a:xfrm>
              <a:off x="9011520" y="1188720"/>
              <a:ext cx="293040" cy="20124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4" name="Connector 268"/>
            <p:cNvCxnSpPr>
              <a:cxnSpLocks/>
              <a:stCxn id="296" idx="5"/>
            </p:cNvCxnSpPr>
            <p:nvPr/>
          </p:nvCxnSpPr>
          <p:spPr>
            <a:xfrm>
              <a:off x="8766904" y="1326392"/>
              <a:ext cx="244976" cy="264808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5" name="Connector 269"/>
            <p:cNvCxnSpPr/>
            <p:nvPr/>
          </p:nvCxnSpPr>
          <p:spPr>
            <a:xfrm>
              <a:off x="9011520" y="118872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29" name="Connector 273"/>
            <p:cNvCxnSpPr/>
            <p:nvPr/>
          </p:nvCxnSpPr>
          <p:spPr>
            <a:xfrm flipV="1">
              <a:off x="9011520" y="98748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31" name="Connector 275"/>
            <p:cNvCxnSpPr/>
            <p:nvPr/>
          </p:nvCxnSpPr>
          <p:spPr>
            <a:xfrm flipV="1">
              <a:off x="9011520" y="1188720"/>
              <a:ext cx="293040" cy="20124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33" name="Connector 277"/>
            <p:cNvCxnSpPr/>
            <p:nvPr/>
          </p:nvCxnSpPr>
          <p:spPr>
            <a:xfrm>
              <a:off x="9011520" y="138960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35" name="Connector 279"/>
            <p:cNvCxnSpPr/>
            <p:nvPr/>
          </p:nvCxnSpPr>
          <p:spPr>
            <a:xfrm>
              <a:off x="9011520" y="138960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39" name="Connector 283"/>
            <p:cNvCxnSpPr/>
            <p:nvPr/>
          </p:nvCxnSpPr>
          <p:spPr>
            <a:xfrm flipV="1">
              <a:off x="9011520" y="987480"/>
              <a:ext cx="293040" cy="60372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41" name="Connector 285"/>
            <p:cNvCxnSpPr/>
            <p:nvPr/>
          </p:nvCxnSpPr>
          <p:spPr>
            <a:xfrm flipV="1">
              <a:off x="9011520" y="118872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43" name="Connector 287"/>
            <p:cNvCxnSpPr/>
            <p:nvPr/>
          </p:nvCxnSpPr>
          <p:spPr>
            <a:xfrm flipV="1">
              <a:off x="9011520" y="138960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345" name="Connector 289"/>
            <p:cNvCxnSpPr/>
            <p:nvPr/>
          </p:nvCxnSpPr>
          <p:spPr>
            <a:xfrm>
              <a:off x="9011520" y="159084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</p:grpSp>
      <p:sp>
        <p:nvSpPr>
          <p:cNvPr id="359" name="TextBox 303"/>
          <p:cNvSpPr/>
          <p:nvPr/>
        </p:nvSpPr>
        <p:spPr>
          <a:xfrm>
            <a:off x="8328583" y="2187120"/>
            <a:ext cx="1486894" cy="1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u="none" strike="noStrike" dirty="0">
                <a:effectLst/>
                <a:uFillTx/>
                <a:latin typeface="Cambria"/>
              </a:rPr>
              <a:t>Eight time-varying outputs</a:t>
            </a:r>
            <a:endParaRPr lang="en-US" sz="880" u="none" strike="noStrike" dirty="0">
              <a:effectLst/>
              <a:uFillTx/>
              <a:latin typeface="Arial"/>
            </a:endParaRPr>
          </a:p>
        </p:txBody>
      </p:sp>
      <p:sp>
        <p:nvSpPr>
          <p:cNvPr id="360" name="Rounded Rectangle 304"/>
          <p:cNvSpPr/>
          <p:nvPr/>
        </p:nvSpPr>
        <p:spPr>
          <a:xfrm>
            <a:off x="8322046" y="1271792"/>
            <a:ext cx="157990" cy="558800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vert="vert270"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0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Time</a:t>
            </a:r>
            <a:r>
              <a:rPr lang="en-US" sz="88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880" b="1" i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t</a:t>
            </a:r>
            <a:endParaRPr lang="en-US" sz="880" b="1" i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Chevron 305"/>
          <p:cNvSpPr/>
          <p:nvPr/>
        </p:nvSpPr>
        <p:spPr>
          <a:xfrm>
            <a:off x="8537212" y="1534313"/>
            <a:ext cx="91080" cy="72720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ounded Rectangle 306"/>
          <p:cNvSpPr/>
          <p:nvPr/>
        </p:nvSpPr>
        <p:spPr>
          <a:xfrm>
            <a:off x="9922579" y="581025"/>
            <a:ext cx="1116895" cy="1438275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Differentiable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RK4 ODE solver</a:t>
            </a:r>
          </a:p>
          <a:p>
            <a:pPr algn="ctr" defTabSz="457200">
              <a:lnSpc>
                <a:spcPct val="100000"/>
              </a:lnSpc>
            </a:pPr>
            <a:endParaRPr lang="en-US" sz="100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Rounded Rectangle 307"/>
              <p:cNvSpPr/>
              <p:nvPr/>
            </p:nvSpPr>
            <p:spPr>
              <a:xfrm>
                <a:off x="9949940" y="1054790"/>
                <a:ext cx="1035560" cy="86926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>
                <a:solidFill>
                  <a:srgbClr val="E6E6E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86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  <a:p>
                <a:pPr algn="ctr" defTabSz="457200">
                  <a:lnSpc>
                    <a:spcPct val="100000"/>
                  </a:lnSpc>
                </a:pPr>
                <a:endParaRPr lang="en-US" sz="860" dirty="0">
                  <a:solidFill>
                    <a:srgbClr val="1E3CA0"/>
                  </a:solidFill>
                  <a:latin typeface="Cambria"/>
                </a:endParaRPr>
              </a:p>
              <a:p>
                <a:pPr algn="ctr" defTabSz="457200">
                  <a:lnSpc>
                    <a:spcPct val="100000"/>
                  </a:lnSpc>
                </a:pPr>
                <a:endParaRPr lang="en-US" sz="860" u="none" strike="noStrike" dirty="0">
                  <a:solidFill>
                    <a:srgbClr val="1E3CA0"/>
                  </a:solidFill>
                  <a:effectLst/>
                  <a:uFillTx/>
                  <a:latin typeface="Cambria"/>
                </a:endParaRPr>
              </a:p>
              <a:p>
                <a:pPr algn="ctr" defTabSz="457200">
                  <a:lnSpc>
                    <a:spcPct val="100000"/>
                  </a:lnSpc>
                </a:pPr>
                <a:endParaRPr lang="en-US" sz="860" dirty="0">
                  <a:solidFill>
                    <a:srgbClr val="1E3CA0"/>
                  </a:solidFill>
                  <a:latin typeface="Cambria"/>
                </a:endParaRPr>
              </a:p>
              <a:p>
                <a:pPr algn="ctr" defTabSz="457200">
                  <a:lnSpc>
                    <a:spcPct val="100000"/>
                  </a:lnSpc>
                </a:pPr>
                <a:endParaRPr lang="en-US" sz="86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363" name="Rounded Rectangle 3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40" y="1054790"/>
                <a:ext cx="1035560" cy="869260"/>
              </a:xfrm>
              <a:prstGeom prst="roundRect">
                <a:avLst>
                  <a:gd name="adj" fmla="val 16667"/>
                </a:avLst>
              </a:prstGeom>
              <a:blipFill>
                <a:blip r:embed="rId31"/>
                <a:stretch>
                  <a:fillRect/>
                </a:stretch>
              </a:blipFill>
              <a:ln w="12700">
                <a:solidFill>
                  <a:srgbClr val="E6E6E6"/>
                </a:solidFill>
                <a:rou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" name="Rounded Rectangle 308"/>
          <p:cNvSpPr/>
          <p:nvPr/>
        </p:nvSpPr>
        <p:spPr>
          <a:xfrm>
            <a:off x="10017939" y="1408484"/>
            <a:ext cx="894535" cy="413965"/>
          </a:xfrm>
          <a:prstGeom prst="roundRect">
            <a:avLst>
              <a:gd name="adj" fmla="val 16667"/>
            </a:avLst>
          </a:prstGeom>
          <a:solidFill>
            <a:srgbClr val="5788CE"/>
          </a:solidFill>
          <a:ln w="12700">
            <a:solidFill>
              <a:srgbClr val="5788C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70" b="0" u="none" strike="noStrike" dirty="0">
                <a:solidFill>
                  <a:srgbClr val="FFFFFF"/>
                </a:solidFill>
                <a:effectLst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RK4</a:t>
            </a:r>
          </a:p>
          <a:p>
            <a:pPr algn="ctr" defTabSz="457200">
              <a:lnSpc>
                <a:spcPct val="100000"/>
              </a:lnSpc>
            </a:pPr>
            <a:r>
              <a:rPr lang="en-US" sz="870" b="0" u="none" strike="noStrike" dirty="0">
                <a:solidFill>
                  <a:srgbClr val="FFFFFF"/>
                </a:solidFill>
                <a:effectLst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(integrable &amp;</a:t>
            </a:r>
          </a:p>
          <a:p>
            <a:pPr algn="ctr" defTabSz="457200">
              <a:lnSpc>
                <a:spcPct val="100000"/>
              </a:lnSpc>
            </a:pPr>
            <a:r>
              <a:rPr lang="en-US" sz="870" b="0" u="none" strike="noStrike" dirty="0">
                <a:solidFill>
                  <a:srgbClr val="FFFFFF"/>
                </a:solidFill>
                <a:effectLst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differentiable)</a:t>
            </a:r>
          </a:p>
        </p:txBody>
      </p:sp>
      <p:sp>
        <p:nvSpPr>
          <p:cNvPr id="365" name="Chevron 309"/>
          <p:cNvSpPr/>
          <p:nvPr/>
        </p:nvSpPr>
        <p:spPr>
          <a:xfrm>
            <a:off x="9837350" y="1515953"/>
            <a:ext cx="118440" cy="91080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ounded Rectangle 310"/>
          <p:cNvSpPr/>
          <p:nvPr/>
        </p:nvSpPr>
        <p:spPr>
          <a:xfrm>
            <a:off x="11150599" y="611564"/>
            <a:ext cx="927101" cy="1025713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Model states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x(t)</a:t>
            </a:r>
          </a:p>
          <a:p>
            <a:pPr algn="ctr" defTabSz="457200">
              <a:lnSpc>
                <a:spcPct val="100000"/>
              </a:lnSpc>
            </a:pPr>
            <a:endParaRPr lang="en-US" sz="100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100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1" name="Rounded Rectangle 325"/>
              <p:cNvSpPr/>
              <p:nvPr/>
            </p:nvSpPr>
            <p:spPr>
              <a:xfrm>
                <a:off x="11215440" y="1778760"/>
                <a:ext cx="862260" cy="310680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880" b="0" u="none" strike="noStrike" dirty="0">
                    <a:solidFill>
                      <a:srgbClr val="1E3CA0"/>
                    </a:solidFill>
                    <a:effectLst/>
                    <a:uFillTx/>
                    <a:latin typeface="Cambria"/>
                  </a:rPr>
                  <a:t>Predicted daily cases</a:t>
                </a:r>
                <a:r>
                  <a:rPr lang="en-US" sz="880" dirty="0">
                    <a:solidFill>
                      <a:srgbClr val="00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80" b="0" i="1" u="none" strike="noStrike" dirty="0" smtClean="0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80" b="0" i="1" u="none" strike="noStrike" dirty="0" smtClean="0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880" b="0" i="1" u="none" strike="noStrike" dirty="0" err="1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880" b="0" i="1" u="none" strike="noStrike" dirty="0" smtClean="0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880" b="0" i="1" u="none" strike="noStrike" dirty="0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sz="880" b="0" i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381" name="Rounded Rectangle 3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5440" y="1778760"/>
                <a:ext cx="862260" cy="310680"/>
              </a:xfrm>
              <a:prstGeom prst="roundRect">
                <a:avLst>
                  <a:gd name="adj" fmla="val 16667"/>
                </a:avLst>
              </a:prstGeom>
              <a:blipFill>
                <a:blip r:embed="rId32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2" name="Chevron 326"/>
          <p:cNvSpPr/>
          <p:nvPr/>
        </p:nvSpPr>
        <p:spPr>
          <a:xfrm>
            <a:off x="11065370" y="1204962"/>
            <a:ext cx="118440" cy="91080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4" name="Rounded Rectangle 328"/>
              <p:cNvSpPr/>
              <p:nvPr/>
            </p:nvSpPr>
            <p:spPr>
              <a:xfrm>
                <a:off x="8582040" y="2544782"/>
                <a:ext cx="1060094" cy="222383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939" b="0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Shared parameter  </a:t>
                </a:r>
                <a14:m>
                  <m:oMath xmlns:m="http://schemas.openxmlformats.org/officeDocument/2006/math">
                    <m:r>
                      <a:rPr lang="en-US" sz="939" b="1" i="1" u="none" strike="noStrike" dirty="0" smtClean="0">
                        <a:effectLst/>
                        <a:uFillTx/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</a:p>
            </p:txBody>
          </p:sp>
        </mc:Choice>
        <mc:Fallback>
          <p:sp>
            <p:nvSpPr>
              <p:cNvPr id="384" name="Rounded Rectangle 3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40" y="2544782"/>
                <a:ext cx="1060094" cy="222383"/>
              </a:xfrm>
              <a:prstGeom prst="roundRect">
                <a:avLst>
                  <a:gd name="adj" fmla="val 16667"/>
                </a:avLst>
              </a:prstGeom>
              <a:blipFill>
                <a:blip r:embed="rId33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5" name="Rounded Rectangle 329"/>
              <p:cNvSpPr/>
              <p:nvPr/>
            </p:nvSpPr>
            <p:spPr>
              <a:xfrm>
                <a:off x="8743306" y="2861508"/>
                <a:ext cx="868278" cy="498240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880" b="0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constants</a:t>
                </a:r>
                <a:endParaRPr lang="en-US" sz="880" b="0" u="none" strike="noStrike" dirty="0"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" b="1" i="1" u="none" strike="noStrike" dirty="0" smtClean="0">
                          <a:effectLst/>
                          <a:uFillTx/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880" b="1" i="1" u="none" strike="noStrike" dirty="0" smtClean="0">
                          <a:effectLst/>
                          <a:uFillTx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880" b="1" i="1" u="none" strike="noStrike" dirty="0" smtClean="0">
                          <a:effectLst/>
                          <a:uFillTx/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880" b="1" i="1" u="none" strike="noStrike" dirty="0" smtClean="0">
                          <a:effectLst/>
                          <a:uFillTx/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880" b="1" i="1" u="none" strike="noStrike" dirty="0" smtClean="0"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80" b="1" i="1" u="none" strike="noStrike" dirty="0" smtClean="0"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880" b="1" i="1" u="none" strike="noStrike" dirty="0" smtClean="0"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85" name="Rounded Rectangle 3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306" y="2861508"/>
                <a:ext cx="868278" cy="498240"/>
              </a:xfrm>
              <a:prstGeom prst="roundRect">
                <a:avLst>
                  <a:gd name="adj" fmla="val 16667"/>
                </a:avLst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8" name="Rounded Rectangle 332"/>
          <p:cNvSpPr/>
          <p:nvPr/>
        </p:nvSpPr>
        <p:spPr>
          <a:xfrm>
            <a:off x="10140710" y="2776680"/>
            <a:ext cx="675530" cy="567720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(versus observed)</a:t>
            </a:r>
            <a:endParaRPr lang="en-US" sz="105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Rounded Rectangle 333"/>
              <p:cNvSpPr/>
              <p:nvPr/>
            </p:nvSpPr>
            <p:spPr>
              <a:xfrm>
                <a:off x="11196600" y="2807965"/>
                <a:ext cx="712800" cy="504575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25560" tIns="12600" rIns="25560" bIns="126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u="none" strike="noStrike" dirty="0">
                    <a:solidFill>
                      <a:srgbClr val="1E3C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Observed data</a:t>
                </a:r>
                <a:endParaRPr lang="en-US" sz="1000" b="0" u="none" strike="noStrike" dirty="0"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1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1000" b="1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sz="1000" b="1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u="none" strike="noStrike" dirty="0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</m:oMath>
                  </m:oMathPara>
                </a14:m>
                <a:endParaRPr lang="en-US" sz="1000" b="0" u="none" strike="noStrike" dirty="0"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9" name="Rounded Rectangle 3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6600" y="2807965"/>
                <a:ext cx="712800" cy="504575"/>
              </a:xfrm>
              <a:prstGeom prst="roundRect">
                <a:avLst>
                  <a:gd name="adj" fmla="val 16667"/>
                </a:avLst>
              </a:prstGeom>
              <a:blipFill>
                <a:blip r:embed="rId35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2" name="Connector 336"/>
          <p:cNvCxnSpPr>
            <a:cxnSpLocks/>
          </p:cNvCxnSpPr>
          <p:nvPr/>
        </p:nvCxnSpPr>
        <p:spPr>
          <a:xfrm>
            <a:off x="10472710" y="2279650"/>
            <a:ext cx="1173190" cy="0"/>
          </a:xfrm>
          <a:prstGeom prst="straightConnector1">
            <a:avLst/>
          </a:prstGeom>
          <a:ln w="15240" cmpd="sng">
            <a:solidFill>
              <a:srgbClr val="5176D6"/>
            </a:solidFill>
            <a:round/>
          </a:ln>
        </p:spPr>
      </p:cxnSp>
      <p:cxnSp>
        <p:nvCxnSpPr>
          <p:cNvPr id="393" name="Connector 337"/>
          <p:cNvCxnSpPr/>
          <p:nvPr/>
        </p:nvCxnSpPr>
        <p:spPr>
          <a:xfrm>
            <a:off x="11645899" y="2095500"/>
            <a:ext cx="360" cy="183240"/>
          </a:xfrm>
          <a:prstGeom prst="straightConnector1">
            <a:avLst/>
          </a:prstGeom>
          <a:ln w="15240">
            <a:solidFill>
              <a:srgbClr val="5176D6"/>
            </a:solidFill>
            <a:round/>
          </a:ln>
        </p:spPr>
      </p:cxnSp>
      <p:sp>
        <p:nvSpPr>
          <p:cNvPr id="394" name="Rounded Rectangle 338"/>
          <p:cNvSpPr/>
          <p:nvPr/>
        </p:nvSpPr>
        <p:spPr>
          <a:xfrm>
            <a:off x="114292" y="3757887"/>
            <a:ext cx="3887552" cy="364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340"/>
          <p:cNvSpPr/>
          <p:nvPr/>
        </p:nvSpPr>
        <p:spPr>
          <a:xfrm>
            <a:off x="384750" y="3883881"/>
            <a:ext cx="3508920" cy="287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Baseline admissible reconstruction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TextBox 341"/>
          <p:cNvSpPr/>
          <p:nvPr/>
        </p:nvSpPr>
        <p:spPr>
          <a:xfrm>
            <a:off x="427798" y="4181608"/>
            <a:ext cx="3508920" cy="179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One ODE-exact admissible solution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1962265B-B8F5-DD3B-3835-DC45C1B89B1F}"/>
              </a:ext>
            </a:extLst>
          </p:cNvPr>
          <p:cNvGrpSpPr/>
          <p:nvPr/>
        </p:nvGrpSpPr>
        <p:grpSpPr>
          <a:xfrm>
            <a:off x="386955" y="6622785"/>
            <a:ext cx="989280" cy="475200"/>
            <a:chOff x="200115" y="6323958"/>
            <a:chExt cx="989280" cy="475200"/>
          </a:xfrm>
        </p:grpSpPr>
        <p:sp>
          <p:nvSpPr>
            <p:cNvPr id="478" name="Rounded Rectangle 422"/>
            <p:cNvSpPr/>
            <p:nvPr/>
          </p:nvSpPr>
          <p:spPr>
            <a:xfrm>
              <a:off x="200115" y="6323958"/>
              <a:ext cx="989280" cy="475200"/>
            </a:xfrm>
            <a:prstGeom prst="roundRect">
              <a:avLst>
                <a:gd name="adj" fmla="val 16667"/>
              </a:avLst>
            </a:prstGeom>
            <a:solidFill>
              <a:srgbClr val="F6FBFF"/>
            </a:solidFill>
            <a:ln w="12700">
              <a:solidFill>
                <a:srgbClr val="DCDCDC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5560" tIns="12600" rIns="25560" bIns="12600" anchor="ctr">
              <a:noAutofit/>
            </a:bodyPr>
            <a:lstStyle/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8 learned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time-varying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functions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35" name="组合 1034">
              <a:extLst>
                <a:ext uri="{FF2B5EF4-FFF2-40B4-BE49-F238E27FC236}">
                  <a16:creationId xmlns:a16="http://schemas.microsoft.com/office/drawing/2014/main" id="{259B1FBE-9FAA-084B-8679-C0D100F4D366}"/>
                </a:ext>
              </a:extLst>
            </p:cNvPr>
            <p:cNvGrpSpPr/>
            <p:nvPr/>
          </p:nvGrpSpPr>
          <p:grpSpPr>
            <a:xfrm>
              <a:off x="283320" y="6501240"/>
              <a:ext cx="146520" cy="164880"/>
              <a:chOff x="283320" y="6501240"/>
              <a:chExt cx="146520" cy="164880"/>
            </a:xfrm>
          </p:grpSpPr>
          <p:cxnSp>
            <p:nvCxnSpPr>
              <p:cNvPr id="481" name="Connector 425"/>
              <p:cNvCxnSpPr/>
              <p:nvPr/>
            </p:nvCxnSpPr>
            <p:spPr>
              <a:xfrm flipV="1">
                <a:off x="283320" y="6501240"/>
                <a:ext cx="146520" cy="18720"/>
              </a:xfrm>
              <a:prstGeom prst="straightConnector1">
                <a:avLst/>
              </a:prstGeom>
              <a:ln w="20320">
                <a:solidFill>
                  <a:srgbClr val="3A90FF"/>
                </a:solidFill>
                <a:round/>
              </a:ln>
            </p:spPr>
          </p:cxnSp>
          <p:cxnSp>
            <p:nvCxnSpPr>
              <p:cNvPr id="482" name="Connector 426"/>
              <p:cNvCxnSpPr/>
              <p:nvPr/>
            </p:nvCxnSpPr>
            <p:spPr>
              <a:xfrm flipV="1">
                <a:off x="283320" y="6574320"/>
                <a:ext cx="146520" cy="18720"/>
              </a:xfrm>
              <a:prstGeom prst="straightConnector1">
                <a:avLst/>
              </a:prstGeom>
              <a:ln w="20320">
                <a:solidFill>
                  <a:srgbClr val="3A90FF"/>
                </a:solidFill>
                <a:round/>
              </a:ln>
            </p:spPr>
          </p:cxnSp>
          <p:cxnSp>
            <p:nvCxnSpPr>
              <p:cNvPr id="483" name="Connector 427"/>
              <p:cNvCxnSpPr/>
              <p:nvPr/>
            </p:nvCxnSpPr>
            <p:spPr>
              <a:xfrm flipV="1">
                <a:off x="283320" y="6647400"/>
                <a:ext cx="146520" cy="18720"/>
              </a:xfrm>
              <a:prstGeom prst="straightConnector1">
                <a:avLst/>
              </a:prstGeom>
              <a:ln w="20320">
                <a:solidFill>
                  <a:srgbClr val="3A90FF"/>
                </a:solidFill>
                <a:round/>
              </a:ln>
            </p:spPr>
          </p:cxnSp>
        </p:grpSp>
      </p:grpSp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E67D4C57-1AD1-C6FB-81D6-0E0B94CAA523}"/>
              </a:ext>
            </a:extLst>
          </p:cNvPr>
          <p:cNvGrpSpPr/>
          <p:nvPr/>
        </p:nvGrpSpPr>
        <p:grpSpPr>
          <a:xfrm>
            <a:off x="1550160" y="6665400"/>
            <a:ext cx="969480" cy="475200"/>
            <a:chOff x="1408320" y="6309360"/>
            <a:chExt cx="886573" cy="475200"/>
          </a:xfrm>
        </p:grpSpPr>
        <p:sp>
          <p:nvSpPr>
            <p:cNvPr id="479" name="Rounded Rectangle 423"/>
            <p:cNvSpPr/>
            <p:nvPr/>
          </p:nvSpPr>
          <p:spPr>
            <a:xfrm>
              <a:off x="1408320" y="6309360"/>
              <a:ext cx="886573" cy="475200"/>
            </a:xfrm>
            <a:prstGeom prst="roundRect">
              <a:avLst>
                <a:gd name="adj" fmla="val 16667"/>
              </a:avLst>
            </a:prstGeom>
            <a:solidFill>
              <a:srgbClr val="F6FBFF"/>
            </a:solidFill>
            <a:ln w="12700">
              <a:solidFill>
                <a:srgbClr val="DCDCDC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5560" tIns="12600" rIns="25560" bIns="12600" anchor="ctr">
              <a:noAutofit/>
            </a:bodyPr>
            <a:lstStyle/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ODE-exact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trajectory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4" name="Gear 6 428"/>
            <p:cNvSpPr/>
            <p:nvPr/>
          </p:nvSpPr>
          <p:spPr>
            <a:xfrm>
              <a:off x="1545480" y="6455520"/>
              <a:ext cx="145800" cy="145800"/>
            </a:xfrm>
            <a:prstGeom prst="gear6">
              <a:avLst>
                <a:gd name="adj1" fmla="val 15000"/>
                <a:gd name="adj2" fmla="val 3526"/>
              </a:avLst>
            </a:prstGeom>
            <a:solidFill>
              <a:srgbClr val="3A90FF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27360" rIns="90000" bIns="2736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38" name="组合 1037">
            <a:extLst>
              <a:ext uri="{FF2B5EF4-FFF2-40B4-BE49-F238E27FC236}">
                <a16:creationId xmlns:a16="http://schemas.microsoft.com/office/drawing/2014/main" id="{2479B305-56C2-F349-8A7D-B23D5B6E775C}"/>
              </a:ext>
            </a:extLst>
          </p:cNvPr>
          <p:cNvGrpSpPr/>
          <p:nvPr/>
        </p:nvGrpSpPr>
        <p:grpSpPr>
          <a:xfrm>
            <a:off x="2787480" y="6665400"/>
            <a:ext cx="934514" cy="475200"/>
            <a:chOff x="2624400" y="6309360"/>
            <a:chExt cx="855721" cy="475200"/>
          </a:xfrm>
        </p:grpSpPr>
        <p:sp>
          <p:nvSpPr>
            <p:cNvPr id="480" name="Rounded Rectangle 424"/>
            <p:cNvSpPr/>
            <p:nvPr/>
          </p:nvSpPr>
          <p:spPr>
            <a:xfrm>
              <a:off x="2624400" y="6309360"/>
              <a:ext cx="855721" cy="475200"/>
            </a:xfrm>
            <a:prstGeom prst="roundRect">
              <a:avLst>
                <a:gd name="adj" fmla="val 16667"/>
              </a:avLst>
            </a:prstGeom>
            <a:solidFill>
              <a:srgbClr val="F6FBFF"/>
            </a:solidFill>
            <a:ln w="12700">
              <a:solidFill>
                <a:srgbClr val="DCDCDC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5560" tIns="12600" rIns="25560" bIns="12600" anchor="ctr">
              <a:noAutofit/>
            </a:bodyPr>
            <a:lstStyle/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Baseline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 defTabSz="457200">
                <a:lnSpc>
                  <a:spcPct val="100000"/>
                </a:lnSpc>
              </a:pPr>
              <a:r>
                <a:rPr lang="en-US" sz="100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</a:t>
              </a:r>
              <a:endParaRPr lang="en-US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5" name="Rectangle 429"/>
            <p:cNvSpPr/>
            <p:nvPr/>
          </p:nvSpPr>
          <p:spPr>
            <a:xfrm>
              <a:off x="2734200" y="6537960"/>
              <a:ext cx="36360" cy="54360"/>
            </a:xfrm>
            <a:prstGeom prst="rect">
              <a:avLst/>
            </a:prstGeom>
            <a:solidFill>
              <a:srgbClr val="3A90FF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86" name="Rectangle 430"/>
            <p:cNvSpPr/>
            <p:nvPr/>
          </p:nvSpPr>
          <p:spPr>
            <a:xfrm>
              <a:off x="2788920" y="6492240"/>
              <a:ext cx="36360" cy="100080"/>
            </a:xfrm>
            <a:prstGeom prst="rect">
              <a:avLst/>
            </a:prstGeom>
            <a:solidFill>
              <a:srgbClr val="3A90FF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87" name="Rectangle 431"/>
            <p:cNvSpPr/>
            <p:nvPr/>
          </p:nvSpPr>
          <p:spPr>
            <a:xfrm>
              <a:off x="2843640" y="6446520"/>
              <a:ext cx="36360" cy="145800"/>
            </a:xfrm>
            <a:prstGeom prst="rect">
              <a:avLst/>
            </a:prstGeom>
            <a:solidFill>
              <a:srgbClr val="3A90FF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488" name="Rounded Rectangle 432"/>
          <p:cNvSpPr/>
          <p:nvPr/>
        </p:nvSpPr>
        <p:spPr>
          <a:xfrm>
            <a:off x="4103820" y="3768715"/>
            <a:ext cx="3984120" cy="364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434"/>
          <p:cNvSpPr/>
          <p:nvPr/>
        </p:nvSpPr>
        <p:spPr>
          <a:xfrm>
            <a:off x="4362698" y="3847287"/>
            <a:ext cx="3508920" cy="287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Diverse admissible solution ensemble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" name="TextBox 435"/>
          <p:cNvSpPr/>
          <p:nvPr/>
        </p:nvSpPr>
        <p:spPr>
          <a:xfrm>
            <a:off x="4524120" y="4096440"/>
            <a:ext cx="3508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Constructing many data-compatible mechanistic solutions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Rounded Rectangle 837"/>
          <p:cNvSpPr/>
          <p:nvPr/>
        </p:nvSpPr>
        <p:spPr>
          <a:xfrm>
            <a:off x="6223814" y="5590648"/>
            <a:ext cx="1758382" cy="1663821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Diverse but data-compatible</a:t>
            </a: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trajectories</a:t>
            </a: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defTabSz="4572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sz="10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Multiple admissible solutions fit the data</a:t>
            </a:r>
          </a:p>
          <a:p>
            <a:pPr marL="171450" indent="-171450" defTabSz="457200">
              <a:buFont typeface="Wingdings" panose="05000000000000000000" pitchFamily="2" charset="2"/>
              <a:buChar char="l"/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Substantial heterogeneity across solutions</a:t>
            </a:r>
          </a:p>
          <a:p>
            <a:pPr marL="171450" indent="-171450" defTabSz="457200">
              <a:buFont typeface="Wingdings" panose="05000000000000000000" pitchFamily="2" charset="2"/>
              <a:buChar char="l"/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counterfactual analysis</a:t>
            </a:r>
          </a:p>
        </p:txBody>
      </p:sp>
      <p:sp>
        <p:nvSpPr>
          <p:cNvPr id="894" name="Rounded Rectangle 838"/>
          <p:cNvSpPr/>
          <p:nvPr/>
        </p:nvSpPr>
        <p:spPr>
          <a:xfrm>
            <a:off x="8180661" y="3766528"/>
            <a:ext cx="3984120" cy="364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6" name="TextBox 840"/>
          <p:cNvSpPr/>
          <p:nvPr/>
        </p:nvSpPr>
        <p:spPr>
          <a:xfrm>
            <a:off x="8436780" y="3778483"/>
            <a:ext cx="3508920" cy="5486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strategy analysis and robustness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7" name="TextBox 841"/>
          <p:cNvSpPr/>
          <p:nvPr/>
        </p:nvSpPr>
        <p:spPr>
          <a:xfrm>
            <a:off x="9692986" y="4139401"/>
            <a:ext cx="2223819" cy="179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1000" b="1" dirty="0">
                <a:solidFill>
                  <a:srgbClr val="1E3CA0"/>
                </a:solidFill>
                <a:latin typeface="Cambria"/>
              </a:rPr>
              <a:t>3 × 3 </a:t>
            </a:r>
            <a:r>
              <a:rPr lang="en-US" sz="1000" b="0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timing strategies across solutions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Rounded Rectangle 842"/>
          <p:cNvSpPr/>
          <p:nvPr/>
        </p:nvSpPr>
        <p:spPr>
          <a:xfrm>
            <a:off x="8359806" y="4448668"/>
            <a:ext cx="749520" cy="1661188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6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Admissible</a:t>
            </a:r>
            <a:endParaRPr lang="en-US" sz="96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6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solutions</a:t>
            </a:r>
            <a:endParaRPr lang="en-US" sz="96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6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(N = 100)</a:t>
            </a:r>
          </a:p>
          <a:p>
            <a:pPr algn="ctr" defTabSz="457200">
              <a:lnSpc>
                <a:spcPct val="100000"/>
              </a:lnSpc>
            </a:pPr>
            <a:endParaRPr lang="en-US" sz="960" b="1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Chevron 915"/>
          <p:cNvSpPr/>
          <p:nvPr/>
        </p:nvSpPr>
        <p:spPr>
          <a:xfrm>
            <a:off x="9085332" y="5170860"/>
            <a:ext cx="184794" cy="126418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2" name="Rounded Rectangle 916"/>
          <p:cNvSpPr/>
          <p:nvPr/>
        </p:nvSpPr>
        <p:spPr>
          <a:xfrm>
            <a:off x="9342012" y="4448668"/>
            <a:ext cx="1520356" cy="1697220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2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3 × 3 timing strategies</a:t>
            </a:r>
          </a:p>
          <a:p>
            <a:pPr algn="ctr" defTabSz="457200">
              <a:lnSpc>
                <a:spcPct val="100000"/>
              </a:lnSpc>
            </a:pPr>
            <a:endParaRPr lang="en-US" sz="92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Box 917"/>
          <p:cNvSpPr/>
          <p:nvPr/>
        </p:nvSpPr>
        <p:spPr>
          <a:xfrm>
            <a:off x="9807120" y="488304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Box 918"/>
          <p:cNvSpPr/>
          <p:nvPr/>
        </p:nvSpPr>
        <p:spPr>
          <a:xfrm>
            <a:off x="9551160" y="510228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Box 919"/>
          <p:cNvSpPr/>
          <p:nvPr/>
        </p:nvSpPr>
        <p:spPr>
          <a:xfrm>
            <a:off x="10063440" y="488304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Box 920"/>
          <p:cNvSpPr/>
          <p:nvPr/>
        </p:nvSpPr>
        <p:spPr>
          <a:xfrm>
            <a:off x="9551160" y="532188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Box 921"/>
          <p:cNvSpPr/>
          <p:nvPr/>
        </p:nvSpPr>
        <p:spPr>
          <a:xfrm>
            <a:off x="10319400" y="488304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L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Box 922"/>
          <p:cNvSpPr/>
          <p:nvPr/>
        </p:nvSpPr>
        <p:spPr>
          <a:xfrm>
            <a:off x="9551160" y="554112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Box 923"/>
          <p:cNvSpPr/>
          <p:nvPr/>
        </p:nvSpPr>
        <p:spPr>
          <a:xfrm>
            <a:off x="9736235" y="4764328"/>
            <a:ext cx="859320" cy="139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74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Region 2 (Guangxi)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0" name="TextBox 924"/>
          <p:cNvSpPr/>
          <p:nvPr/>
        </p:nvSpPr>
        <p:spPr>
          <a:xfrm>
            <a:off x="9382496" y="4852048"/>
            <a:ext cx="165497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vert270" wrap="square"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74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Region 1 </a:t>
            </a:r>
            <a:r>
              <a:rPr lang="en-US" sz="74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(Guangdong)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1" name="Rounded Rectangle 925"/>
          <p:cNvSpPr/>
          <p:nvPr/>
        </p:nvSpPr>
        <p:spPr>
          <a:xfrm>
            <a:off x="9807120" y="510228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F5FC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NN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Rounded Rectangle 926"/>
          <p:cNvSpPr/>
          <p:nvPr/>
        </p:nvSpPr>
        <p:spPr>
          <a:xfrm>
            <a:off x="10063440" y="510228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NH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Rounded Rectangle 927"/>
          <p:cNvSpPr/>
          <p:nvPr/>
        </p:nvSpPr>
        <p:spPr>
          <a:xfrm>
            <a:off x="10319400" y="510228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EBF6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NL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Rounded Rectangle 928"/>
          <p:cNvSpPr/>
          <p:nvPr/>
        </p:nvSpPr>
        <p:spPr>
          <a:xfrm>
            <a:off x="9807120" y="532188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HN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Rounded Rectangle 929"/>
          <p:cNvSpPr/>
          <p:nvPr/>
        </p:nvSpPr>
        <p:spPr>
          <a:xfrm>
            <a:off x="10063440" y="532188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EBF6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HH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Rounded Rectangle 930"/>
          <p:cNvSpPr/>
          <p:nvPr/>
        </p:nvSpPr>
        <p:spPr>
          <a:xfrm>
            <a:off x="10319400" y="532188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F5FC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HL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Rounded Rectangle 931"/>
          <p:cNvSpPr/>
          <p:nvPr/>
        </p:nvSpPr>
        <p:spPr>
          <a:xfrm>
            <a:off x="9807120" y="554112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EBF6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LN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Rounded Rectangle 932"/>
          <p:cNvSpPr/>
          <p:nvPr/>
        </p:nvSpPr>
        <p:spPr>
          <a:xfrm>
            <a:off x="10063440" y="554112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F5FCFF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LH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Rounded Rectangle 933"/>
          <p:cNvSpPr/>
          <p:nvPr/>
        </p:nvSpPr>
        <p:spPr>
          <a:xfrm>
            <a:off x="10319400" y="5541120"/>
            <a:ext cx="255600" cy="2192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E3CA0"/>
                </a:solidFill>
                <a:effectLst/>
                <a:uFillTx/>
                <a:latin typeface="Cambria"/>
              </a:rPr>
              <a:t>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Box 934"/>
          <p:cNvSpPr/>
          <p:nvPr/>
        </p:nvSpPr>
        <p:spPr>
          <a:xfrm>
            <a:off x="9587387" y="5852132"/>
            <a:ext cx="1157015" cy="2593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5560" tIns="12600" rIns="25560" bIns="126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760" b="0" u="none" strike="noStrike" dirty="0">
                <a:solidFill>
                  <a:schemeClr val="tx2">
                    <a:lumMod val="75000"/>
                  </a:schemeClr>
                </a:solidFill>
                <a:effectLst/>
                <a:uFillTx/>
                <a:latin typeface="Cambria"/>
              </a:rPr>
              <a:t>N: normal      H: high risk      L: low risk</a:t>
            </a:r>
            <a:endParaRPr lang="en-US" sz="760" b="0" u="none" strike="noStrike" dirty="0">
              <a:solidFill>
                <a:schemeClr val="tx2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92" name="Rounded Rectangle 936"/>
          <p:cNvSpPr/>
          <p:nvPr/>
        </p:nvSpPr>
        <p:spPr>
          <a:xfrm>
            <a:off x="10934254" y="4457548"/>
            <a:ext cx="1205514" cy="1714495"/>
          </a:xfrm>
          <a:prstGeom prst="roundRect">
            <a:avLst>
              <a:gd name="adj" fmla="val 16667"/>
            </a:avLst>
          </a:prstGeom>
          <a:solidFill>
            <a:srgbClr val="F6FBFF"/>
          </a:solidFill>
          <a:ln w="12700">
            <a:solidFill>
              <a:srgbClr val="DCDC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12600" rIns="255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9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Policy evaluation</a:t>
            </a:r>
            <a:endParaRPr lang="en-US" sz="889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89" b="1" u="none" strike="noStrike" dirty="0">
                <a:solidFill>
                  <a:srgbClr val="1E3CA0"/>
                </a:solidFill>
                <a:effectLst/>
                <a:uFillTx/>
                <a:latin typeface="Cambria"/>
              </a:rPr>
              <a:t>across solutions</a:t>
            </a:r>
          </a:p>
          <a:p>
            <a:pPr algn="ctr" defTabSz="457200">
              <a:lnSpc>
                <a:spcPct val="100000"/>
              </a:lnSpc>
            </a:pPr>
            <a:endParaRPr lang="en-US" sz="889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b="0" u="none" strike="noStrike" dirty="0">
              <a:solidFill>
                <a:srgbClr val="1E3CA0"/>
              </a:solidFill>
              <a:effectLst/>
              <a:uFillTx/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dirty="0">
              <a:solidFill>
                <a:srgbClr val="1E3CA0"/>
              </a:solidFill>
              <a:latin typeface="Cambria"/>
            </a:endParaRPr>
          </a:p>
          <a:p>
            <a:pPr algn="ctr" defTabSz="457200">
              <a:lnSpc>
                <a:spcPct val="100000"/>
              </a:lnSpc>
            </a:pPr>
            <a:endParaRPr lang="en-US" sz="88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Rounded Rectangle 937"/>
          <p:cNvSpPr/>
          <p:nvPr/>
        </p:nvSpPr>
        <p:spPr>
          <a:xfrm>
            <a:off x="11071516" y="4922351"/>
            <a:ext cx="1002608" cy="5091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6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Outcomes across</a:t>
            </a: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admissible solutions</a:t>
            </a:r>
          </a:p>
        </p:txBody>
      </p:sp>
      <p:grpSp>
        <p:nvGrpSpPr>
          <p:cNvPr id="1079" name="组合 1078">
            <a:extLst>
              <a:ext uri="{FF2B5EF4-FFF2-40B4-BE49-F238E27FC236}">
                <a16:creationId xmlns:a16="http://schemas.microsoft.com/office/drawing/2014/main" id="{620C71C8-96D8-8A36-942F-1BC788C838E8}"/>
              </a:ext>
            </a:extLst>
          </p:cNvPr>
          <p:cNvGrpSpPr/>
          <p:nvPr/>
        </p:nvGrpSpPr>
        <p:grpSpPr>
          <a:xfrm>
            <a:off x="10948051" y="5523337"/>
            <a:ext cx="1348821" cy="534753"/>
            <a:chOff x="10839537" y="5405834"/>
            <a:chExt cx="1460230" cy="534753"/>
          </a:xfrm>
        </p:grpSpPr>
        <p:sp>
          <p:nvSpPr>
            <p:cNvPr id="998" name="Rounded Rectangle 942"/>
            <p:cNvSpPr/>
            <p:nvPr/>
          </p:nvSpPr>
          <p:spPr>
            <a:xfrm>
              <a:off x="10839537" y="5405834"/>
              <a:ext cx="1254190" cy="5347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E6E6E6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altLang="zh-CN" sz="800" dirty="0">
                  <a:solidFill>
                    <a:srgbClr val="1E3C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strategies</a:t>
              </a:r>
              <a:endParaRPr lang="en-US" altLang="zh-CN" sz="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en-US" altLang="zh-CN" sz="800" dirty="0">
                  <a:solidFill>
                    <a:srgbClr val="1E3C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(e.g. cumulative cases,</a:t>
              </a:r>
              <a:endParaRPr lang="en-US" altLang="zh-CN" sz="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en-US" altLang="zh-CN" sz="800" dirty="0">
                  <a:solidFill>
                    <a:srgbClr val="1E3C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peak size, timing)</a:t>
              </a:r>
              <a:endParaRPr lang="en-US" altLang="zh-CN" sz="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7" name="TextBox 951"/>
            <p:cNvSpPr/>
            <p:nvPr/>
          </p:nvSpPr>
          <p:spPr>
            <a:xfrm>
              <a:off x="11095054" y="5649341"/>
              <a:ext cx="1204713" cy="1393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25560" tIns="12600" rIns="25560" bIns="12600" anchor="ctr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74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08" name="Connector 952"/>
          <p:cNvCxnSpPr/>
          <p:nvPr/>
        </p:nvCxnSpPr>
        <p:spPr>
          <a:xfrm>
            <a:off x="8307360" y="6291000"/>
            <a:ext cx="3603240" cy="360"/>
          </a:xfrm>
          <a:prstGeom prst="straightConnector1">
            <a:avLst/>
          </a:prstGeom>
          <a:ln w="12700">
            <a:solidFill>
              <a:srgbClr val="84CBFF"/>
            </a:solidFill>
            <a:round/>
          </a:ln>
        </p:spPr>
      </p:cxnSp>
      <p:sp>
        <p:nvSpPr>
          <p:cNvPr id="1009" name="TextBox 953"/>
          <p:cNvSpPr/>
          <p:nvPr/>
        </p:nvSpPr>
        <p:spPr>
          <a:xfrm>
            <a:off x="8415854" y="6329096"/>
            <a:ext cx="3584160" cy="764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12600" rIns="25560" bIns="126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Most rankings are solution-dependent.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HH vs LL remains robust across admissible solutions.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4BAC86-22C2-A9D0-1A70-D26C19AB54D3}"/>
              </a:ext>
            </a:extLst>
          </p:cNvPr>
          <p:cNvSpPr txBox="1"/>
          <p:nvPr/>
        </p:nvSpPr>
        <p:spPr>
          <a:xfrm>
            <a:off x="-17438" y="-121817"/>
            <a:ext cx="40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B5CE72-4FB2-F133-F7B3-93035CAC2BA5}"/>
              </a:ext>
            </a:extLst>
          </p:cNvPr>
          <p:cNvSpPr txBox="1"/>
          <p:nvPr/>
        </p:nvSpPr>
        <p:spPr>
          <a:xfrm>
            <a:off x="3975120" y="-105548"/>
            <a:ext cx="40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230F33-72EA-8269-4A86-6794688529FC}"/>
              </a:ext>
            </a:extLst>
          </p:cNvPr>
          <p:cNvSpPr txBox="1"/>
          <p:nvPr/>
        </p:nvSpPr>
        <p:spPr>
          <a:xfrm>
            <a:off x="8012036" y="-106845"/>
            <a:ext cx="40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8D156B-7919-F17F-9076-706C97347054}"/>
              </a:ext>
            </a:extLst>
          </p:cNvPr>
          <p:cNvSpPr txBox="1"/>
          <p:nvPr/>
        </p:nvSpPr>
        <p:spPr>
          <a:xfrm>
            <a:off x="-62823" y="3506824"/>
            <a:ext cx="40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EB5DCC-E448-E5A4-5911-E6F73570693F}"/>
              </a:ext>
            </a:extLst>
          </p:cNvPr>
          <p:cNvSpPr txBox="1"/>
          <p:nvPr/>
        </p:nvSpPr>
        <p:spPr>
          <a:xfrm>
            <a:off x="3975120" y="3511415"/>
            <a:ext cx="40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BE27E8-08D9-82E2-5385-34BFD3289F9E}"/>
              </a:ext>
            </a:extLst>
          </p:cNvPr>
          <p:cNvSpPr txBox="1"/>
          <p:nvPr/>
        </p:nvSpPr>
        <p:spPr>
          <a:xfrm>
            <a:off x="8052936" y="3565633"/>
            <a:ext cx="40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26">
                <a:extLst>
                  <a:ext uri="{FF2B5EF4-FFF2-40B4-BE49-F238E27FC236}">
                    <a16:creationId xmlns:a16="http://schemas.microsoft.com/office/drawing/2014/main" id="{2CD4730E-B6FF-1D22-CE13-80B097E71F16}"/>
                  </a:ext>
                </a:extLst>
              </p:cNvPr>
              <p:cNvSpPr/>
              <p:nvPr/>
            </p:nvSpPr>
            <p:spPr>
              <a:xfrm>
                <a:off x="5914107" y="862248"/>
                <a:ext cx="363785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800" b="0" i="0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1→2</m:t>
                          </m:r>
                        </m:sub>
                      </m:sSub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u="none" strike="noStrike" dirty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226">
                <a:extLst>
                  <a:ext uri="{FF2B5EF4-FFF2-40B4-BE49-F238E27FC236}">
                    <a16:creationId xmlns:a16="http://schemas.microsoft.com/office/drawing/2014/main" id="{2CD4730E-B6FF-1D22-CE13-80B097E71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107" y="862248"/>
                <a:ext cx="363785" cy="148557"/>
              </a:xfrm>
              <a:prstGeom prst="rect">
                <a:avLst/>
              </a:prstGeom>
              <a:blipFill>
                <a:blip r:embed="rId36"/>
                <a:stretch>
                  <a:fillRect l="-15000" t="-12000" r="-23333" b="-32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右 9">
            <a:extLst>
              <a:ext uri="{FF2B5EF4-FFF2-40B4-BE49-F238E27FC236}">
                <a16:creationId xmlns:a16="http://schemas.microsoft.com/office/drawing/2014/main" id="{10CEE860-1A55-55F3-F864-B2F1E468106B}"/>
              </a:ext>
            </a:extLst>
          </p:cNvPr>
          <p:cNvSpPr/>
          <p:nvPr/>
        </p:nvSpPr>
        <p:spPr>
          <a:xfrm>
            <a:off x="5916915" y="1000807"/>
            <a:ext cx="411297" cy="124857"/>
          </a:xfrm>
          <a:prstGeom prst="rightArrow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00886FA-640B-A001-D80E-72D8E1FC58B1}"/>
              </a:ext>
            </a:extLst>
          </p:cNvPr>
          <p:cNvSpPr/>
          <p:nvPr/>
        </p:nvSpPr>
        <p:spPr>
          <a:xfrm rot="10800000">
            <a:off x="5922065" y="1306154"/>
            <a:ext cx="411297" cy="124857"/>
          </a:xfrm>
          <a:prstGeom prst="rightArrow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96">
                <a:extLst>
                  <a:ext uri="{FF2B5EF4-FFF2-40B4-BE49-F238E27FC236}">
                    <a16:creationId xmlns:a16="http://schemas.microsoft.com/office/drawing/2014/main" id="{4DA2C23A-526F-4F60-447C-CD9CB912BD12}"/>
                  </a:ext>
                </a:extLst>
              </p:cNvPr>
              <p:cNvSpPr/>
              <p:nvPr/>
            </p:nvSpPr>
            <p:spPr>
              <a:xfrm>
                <a:off x="6622869" y="874275"/>
                <a:ext cx="292320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96">
                <a:extLst>
                  <a:ext uri="{FF2B5EF4-FFF2-40B4-BE49-F238E27FC236}">
                    <a16:creationId xmlns:a16="http://schemas.microsoft.com/office/drawing/2014/main" id="{4DA2C23A-526F-4F60-447C-CD9CB912BD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869" y="874275"/>
                <a:ext cx="292320" cy="148557"/>
              </a:xfrm>
              <a:prstGeom prst="rect">
                <a:avLst/>
              </a:prstGeom>
              <a:blipFill>
                <a:blip r:embed="rId37"/>
                <a:stretch>
                  <a:fillRect l="-4167" t="-12000" r="-12500" b="-32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200">
                <a:extLst>
                  <a:ext uri="{FF2B5EF4-FFF2-40B4-BE49-F238E27FC236}">
                    <a16:creationId xmlns:a16="http://schemas.microsoft.com/office/drawing/2014/main" id="{A477F743-417E-3F29-86E4-3992AA68E7D0}"/>
                  </a:ext>
                </a:extLst>
              </p:cNvPr>
              <p:cNvSpPr/>
              <p:nvPr/>
            </p:nvSpPr>
            <p:spPr>
              <a:xfrm>
                <a:off x="6293369" y="1253824"/>
                <a:ext cx="335332" cy="14086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75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75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3" name="TextBox 200">
                <a:extLst>
                  <a:ext uri="{FF2B5EF4-FFF2-40B4-BE49-F238E27FC236}">
                    <a16:creationId xmlns:a16="http://schemas.microsoft.com/office/drawing/2014/main" id="{A477F743-417E-3F29-86E4-3992AA68E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369" y="1253824"/>
                <a:ext cx="335332" cy="140862"/>
              </a:xfrm>
              <a:prstGeom prst="rect">
                <a:avLst/>
              </a:prstGeom>
              <a:blipFill>
                <a:blip r:embed="rId38"/>
                <a:stretch>
                  <a:fillRect b="-869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0D6777-B160-B45A-155D-53D9B071A4F2}"/>
              </a:ext>
            </a:extLst>
          </p:cNvPr>
          <p:cNvCxnSpPr>
            <a:cxnSpLocks/>
            <a:stCxn id="245" idx="2"/>
            <a:endCxn id="248" idx="0"/>
          </p:cNvCxnSpPr>
          <p:nvPr/>
        </p:nvCxnSpPr>
        <p:spPr>
          <a:xfrm flipH="1">
            <a:off x="4505760" y="1179360"/>
            <a:ext cx="3377" cy="329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64B3018-EF47-32CE-F52D-CFBB9D9AE1B8}"/>
              </a:ext>
            </a:extLst>
          </p:cNvPr>
          <p:cNvCxnSpPr>
            <a:cxnSpLocks/>
            <a:stCxn id="245" idx="3"/>
            <a:endCxn id="246" idx="1"/>
          </p:cNvCxnSpPr>
          <p:nvPr/>
        </p:nvCxnSpPr>
        <p:spPr>
          <a:xfrm>
            <a:off x="4633560" y="1069740"/>
            <a:ext cx="201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055FF05-7FB9-63DA-DB8F-C1B3234E3A0B}"/>
              </a:ext>
            </a:extLst>
          </p:cNvPr>
          <p:cNvCxnSpPr>
            <a:cxnSpLocks/>
            <a:stCxn id="246" idx="2"/>
            <a:endCxn id="249" idx="0"/>
          </p:cNvCxnSpPr>
          <p:nvPr/>
        </p:nvCxnSpPr>
        <p:spPr>
          <a:xfrm flipH="1">
            <a:off x="4954516" y="1179360"/>
            <a:ext cx="8444" cy="3440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DBCB74F-2986-7EE1-2FE1-9AA09FE279EF}"/>
              </a:ext>
            </a:extLst>
          </p:cNvPr>
          <p:cNvCxnSpPr>
            <a:cxnSpLocks/>
            <a:stCxn id="246" idx="3"/>
            <a:endCxn id="247" idx="1"/>
          </p:cNvCxnSpPr>
          <p:nvPr/>
        </p:nvCxnSpPr>
        <p:spPr>
          <a:xfrm>
            <a:off x="5090760" y="1069740"/>
            <a:ext cx="201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ECF035F-E6C9-3D7F-A18C-0128C1B185F8}"/>
              </a:ext>
            </a:extLst>
          </p:cNvPr>
          <p:cNvCxnSpPr>
            <a:cxnSpLocks/>
            <a:stCxn id="260" idx="2"/>
            <a:endCxn id="250" idx="0"/>
          </p:cNvCxnSpPr>
          <p:nvPr/>
        </p:nvCxnSpPr>
        <p:spPr>
          <a:xfrm flipH="1">
            <a:off x="5431245" y="1415170"/>
            <a:ext cx="156580" cy="1255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678D8F9-F938-7FFA-4DE0-81EC5A6DF850}"/>
              </a:ext>
            </a:extLst>
          </p:cNvPr>
          <p:cNvCxnSpPr>
            <a:cxnSpLocks/>
            <a:stCxn id="262" idx="2"/>
            <a:endCxn id="265" idx="0"/>
          </p:cNvCxnSpPr>
          <p:nvPr/>
        </p:nvCxnSpPr>
        <p:spPr>
          <a:xfrm>
            <a:off x="6553800" y="1179360"/>
            <a:ext cx="0" cy="329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9FA089A-AB70-3B36-5447-917CEE9AC9EC}"/>
              </a:ext>
            </a:extLst>
          </p:cNvPr>
          <p:cNvCxnSpPr>
            <a:cxnSpLocks/>
            <a:stCxn id="262" idx="3"/>
            <a:endCxn id="263" idx="1"/>
          </p:cNvCxnSpPr>
          <p:nvPr/>
        </p:nvCxnSpPr>
        <p:spPr>
          <a:xfrm>
            <a:off x="6681600" y="1069740"/>
            <a:ext cx="212617" cy="36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4F8DF52-4A01-6055-0A29-0C02120B3B83}"/>
              </a:ext>
            </a:extLst>
          </p:cNvPr>
          <p:cNvCxnSpPr>
            <a:cxnSpLocks/>
            <a:stCxn id="263" idx="2"/>
            <a:endCxn id="266" idx="0"/>
          </p:cNvCxnSpPr>
          <p:nvPr/>
        </p:nvCxnSpPr>
        <p:spPr>
          <a:xfrm flipH="1">
            <a:off x="7013934" y="1183032"/>
            <a:ext cx="8083" cy="3477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7B381EC-782F-93E8-E3D8-1810C6210107}"/>
              </a:ext>
            </a:extLst>
          </p:cNvPr>
          <p:cNvCxnSpPr>
            <a:cxnSpLocks/>
            <a:stCxn id="263" idx="3"/>
            <a:endCxn id="264" idx="1"/>
          </p:cNvCxnSpPr>
          <p:nvPr/>
        </p:nvCxnSpPr>
        <p:spPr>
          <a:xfrm flipV="1">
            <a:off x="7149817" y="1069740"/>
            <a:ext cx="190583" cy="36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51F73B2-0FB4-833D-751A-3191AB6C40DF}"/>
              </a:ext>
            </a:extLst>
          </p:cNvPr>
          <p:cNvCxnSpPr>
            <a:cxnSpLocks/>
            <a:stCxn id="277" idx="2"/>
            <a:endCxn id="267" idx="0"/>
          </p:cNvCxnSpPr>
          <p:nvPr/>
        </p:nvCxnSpPr>
        <p:spPr>
          <a:xfrm flipH="1">
            <a:off x="7515589" y="1422864"/>
            <a:ext cx="229953" cy="1558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ounded Rectangle 304">
                <a:extLst>
                  <a:ext uri="{FF2B5EF4-FFF2-40B4-BE49-F238E27FC236}">
                    <a16:creationId xmlns:a16="http://schemas.microsoft.com/office/drawing/2014/main" id="{ABCAB003-445E-EE5F-62FE-2FAD1DF85823}"/>
                  </a:ext>
                </a:extLst>
              </p:cNvPr>
              <p:cNvSpPr/>
              <p:nvPr/>
            </p:nvSpPr>
            <p:spPr>
              <a:xfrm>
                <a:off x="9399020" y="1048658"/>
                <a:ext cx="355365" cy="502534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vert="horz"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𝑐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𝑑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3" name="Rounded Rectangle 304">
                <a:extLst>
                  <a:ext uri="{FF2B5EF4-FFF2-40B4-BE49-F238E27FC236}">
                    <a16:creationId xmlns:a16="http://schemas.microsoft.com/office/drawing/2014/main" id="{ABCAB003-445E-EE5F-62FE-2FAD1DF858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020" y="1048658"/>
                <a:ext cx="355365" cy="502534"/>
              </a:xfrm>
              <a:prstGeom prst="roundRect">
                <a:avLst>
                  <a:gd name="adj" fmla="val 16667"/>
                </a:avLst>
              </a:prstGeom>
              <a:blipFill>
                <a:blip r:embed="rId39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8" name="组合 1017">
            <a:extLst>
              <a:ext uri="{FF2B5EF4-FFF2-40B4-BE49-F238E27FC236}">
                <a16:creationId xmlns:a16="http://schemas.microsoft.com/office/drawing/2014/main" id="{9C694810-57A5-5252-A9A9-55F1C4C8FB20}"/>
              </a:ext>
            </a:extLst>
          </p:cNvPr>
          <p:cNvGrpSpPr/>
          <p:nvPr/>
        </p:nvGrpSpPr>
        <p:grpSpPr>
          <a:xfrm>
            <a:off x="11306174" y="1041399"/>
            <a:ext cx="682625" cy="485775"/>
            <a:chOff x="11229974" y="1181099"/>
            <a:chExt cx="682625" cy="485775"/>
          </a:xfrm>
          <a:effectLst/>
        </p:grpSpPr>
        <p:sp>
          <p:nvSpPr>
            <p:cNvPr id="367" name="Rounded Rectangle 311"/>
            <p:cNvSpPr/>
            <p:nvPr/>
          </p:nvSpPr>
          <p:spPr>
            <a:xfrm>
              <a:off x="11229974" y="1181099"/>
              <a:ext cx="682625" cy="4857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E6E6E6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68" name="Connector 312"/>
            <p:cNvCxnSpPr/>
            <p:nvPr/>
          </p:nvCxnSpPr>
          <p:spPr>
            <a:xfrm flipV="1">
              <a:off x="11343240" y="1426320"/>
              <a:ext cx="110160" cy="55080"/>
            </a:xfrm>
            <a:prstGeom prst="straightConnector1">
              <a:avLst/>
            </a:prstGeom>
            <a:ln w="13970">
              <a:solidFill>
                <a:srgbClr val="3A90FF"/>
              </a:solidFill>
              <a:round/>
            </a:ln>
          </p:spPr>
        </p:cxnSp>
        <p:cxnSp>
          <p:nvCxnSpPr>
            <p:cNvPr id="369" name="Connector 313"/>
            <p:cNvCxnSpPr/>
            <p:nvPr/>
          </p:nvCxnSpPr>
          <p:spPr>
            <a:xfrm flipV="1">
              <a:off x="11453040" y="1398960"/>
              <a:ext cx="128160" cy="27720"/>
            </a:xfrm>
            <a:prstGeom prst="straightConnector1">
              <a:avLst/>
            </a:prstGeom>
            <a:ln w="13970">
              <a:solidFill>
                <a:srgbClr val="3A90FF"/>
              </a:solidFill>
              <a:round/>
            </a:ln>
          </p:spPr>
        </p:cxnSp>
        <p:cxnSp>
          <p:nvCxnSpPr>
            <p:cNvPr id="370" name="Connector 314"/>
            <p:cNvCxnSpPr/>
            <p:nvPr/>
          </p:nvCxnSpPr>
          <p:spPr>
            <a:xfrm flipV="1">
              <a:off x="11580840" y="1362240"/>
              <a:ext cx="119520" cy="37080"/>
            </a:xfrm>
            <a:prstGeom prst="straightConnector1">
              <a:avLst/>
            </a:prstGeom>
            <a:ln w="13970">
              <a:solidFill>
                <a:srgbClr val="3A90FF"/>
              </a:solidFill>
              <a:round/>
            </a:ln>
          </p:spPr>
        </p:cxnSp>
        <p:cxnSp>
          <p:nvCxnSpPr>
            <p:cNvPr id="371" name="Connector 315"/>
            <p:cNvCxnSpPr/>
            <p:nvPr/>
          </p:nvCxnSpPr>
          <p:spPr>
            <a:xfrm flipV="1">
              <a:off x="11700000" y="1270800"/>
              <a:ext cx="128160" cy="91800"/>
            </a:xfrm>
            <a:prstGeom prst="straightConnector1">
              <a:avLst/>
            </a:prstGeom>
            <a:ln w="13970">
              <a:solidFill>
                <a:srgbClr val="3A90FF"/>
              </a:solidFill>
              <a:round/>
            </a:ln>
          </p:spPr>
        </p:cxnSp>
        <p:cxnSp>
          <p:nvCxnSpPr>
            <p:cNvPr id="372" name="Connector 316"/>
            <p:cNvCxnSpPr/>
            <p:nvPr/>
          </p:nvCxnSpPr>
          <p:spPr>
            <a:xfrm flipV="1">
              <a:off x="11343240" y="1472040"/>
              <a:ext cx="110160" cy="46080"/>
            </a:xfrm>
            <a:prstGeom prst="straightConnector1">
              <a:avLst/>
            </a:prstGeom>
            <a:ln w="13970">
              <a:solidFill>
                <a:srgbClr val="57AAA0"/>
              </a:solidFill>
              <a:round/>
            </a:ln>
          </p:spPr>
        </p:cxnSp>
        <p:cxnSp>
          <p:nvCxnSpPr>
            <p:cNvPr id="373" name="Connector 317"/>
            <p:cNvCxnSpPr/>
            <p:nvPr/>
          </p:nvCxnSpPr>
          <p:spPr>
            <a:xfrm flipV="1">
              <a:off x="11453040" y="1444680"/>
              <a:ext cx="128160" cy="27720"/>
            </a:xfrm>
            <a:prstGeom prst="straightConnector1">
              <a:avLst/>
            </a:prstGeom>
            <a:ln w="13970">
              <a:solidFill>
                <a:srgbClr val="57AAA0"/>
              </a:solidFill>
              <a:round/>
            </a:ln>
          </p:spPr>
        </p:cxnSp>
        <p:cxnSp>
          <p:nvCxnSpPr>
            <p:cNvPr id="374" name="Connector 318"/>
            <p:cNvCxnSpPr/>
            <p:nvPr/>
          </p:nvCxnSpPr>
          <p:spPr>
            <a:xfrm flipV="1">
              <a:off x="11580840" y="1417320"/>
              <a:ext cx="119520" cy="27720"/>
            </a:xfrm>
            <a:prstGeom prst="straightConnector1">
              <a:avLst/>
            </a:prstGeom>
            <a:ln w="13970">
              <a:solidFill>
                <a:srgbClr val="57AAA0"/>
              </a:solidFill>
              <a:round/>
            </a:ln>
          </p:spPr>
        </p:cxnSp>
        <p:cxnSp>
          <p:nvCxnSpPr>
            <p:cNvPr id="375" name="Connector 319"/>
            <p:cNvCxnSpPr/>
            <p:nvPr/>
          </p:nvCxnSpPr>
          <p:spPr>
            <a:xfrm flipV="1">
              <a:off x="11700000" y="1353240"/>
              <a:ext cx="128160" cy="64440"/>
            </a:xfrm>
            <a:prstGeom prst="straightConnector1">
              <a:avLst/>
            </a:prstGeom>
            <a:ln w="13970">
              <a:solidFill>
                <a:srgbClr val="57AAA0"/>
              </a:solidFill>
              <a:round/>
            </a:ln>
          </p:spPr>
        </p:cxnSp>
        <p:cxnSp>
          <p:nvCxnSpPr>
            <p:cNvPr id="376" name="Connector 320"/>
            <p:cNvCxnSpPr/>
            <p:nvPr/>
          </p:nvCxnSpPr>
          <p:spPr>
            <a:xfrm flipV="1">
              <a:off x="11343240" y="1536120"/>
              <a:ext cx="110160" cy="18720"/>
            </a:xfrm>
            <a:prstGeom prst="straightConnector1">
              <a:avLst/>
            </a:prstGeom>
            <a:ln w="13970">
              <a:solidFill>
                <a:srgbClr val="4CB168"/>
              </a:solidFill>
              <a:round/>
            </a:ln>
          </p:spPr>
        </p:cxnSp>
        <p:cxnSp>
          <p:nvCxnSpPr>
            <p:cNvPr id="377" name="Connector 321"/>
            <p:cNvCxnSpPr/>
            <p:nvPr/>
          </p:nvCxnSpPr>
          <p:spPr>
            <a:xfrm flipV="1">
              <a:off x="11453040" y="1508760"/>
              <a:ext cx="128160" cy="27720"/>
            </a:xfrm>
            <a:prstGeom prst="straightConnector1">
              <a:avLst/>
            </a:prstGeom>
            <a:ln w="13970">
              <a:solidFill>
                <a:srgbClr val="4CB168"/>
              </a:solidFill>
              <a:round/>
            </a:ln>
          </p:spPr>
        </p:cxnSp>
        <p:cxnSp>
          <p:nvCxnSpPr>
            <p:cNvPr id="378" name="Connector 322"/>
            <p:cNvCxnSpPr/>
            <p:nvPr/>
          </p:nvCxnSpPr>
          <p:spPr>
            <a:xfrm flipV="1">
              <a:off x="11580840" y="1481040"/>
              <a:ext cx="119520" cy="28080"/>
            </a:xfrm>
            <a:prstGeom prst="straightConnector1">
              <a:avLst/>
            </a:prstGeom>
            <a:ln w="13970">
              <a:solidFill>
                <a:srgbClr val="4CB168"/>
              </a:solidFill>
              <a:round/>
            </a:ln>
          </p:spPr>
        </p:cxnSp>
        <p:cxnSp>
          <p:nvCxnSpPr>
            <p:cNvPr id="379" name="Connector 323"/>
            <p:cNvCxnSpPr/>
            <p:nvPr/>
          </p:nvCxnSpPr>
          <p:spPr>
            <a:xfrm flipV="1">
              <a:off x="11700000" y="1444680"/>
              <a:ext cx="128160" cy="36720"/>
            </a:xfrm>
            <a:prstGeom prst="straightConnector1">
              <a:avLst/>
            </a:prstGeom>
            <a:ln w="13970">
              <a:solidFill>
                <a:srgbClr val="4CB168"/>
              </a:solidFill>
              <a:round/>
            </a:ln>
          </p:spPr>
        </p:cxnSp>
        <p:sp>
          <p:nvSpPr>
            <p:cNvPr id="380" name="TextBox 324"/>
            <p:cNvSpPr/>
            <p:nvPr/>
          </p:nvSpPr>
          <p:spPr>
            <a:xfrm>
              <a:off x="11352600" y="1508760"/>
              <a:ext cx="402120" cy="7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5560" tIns="12600" rIns="25560" bIns="12600" anchor="ctr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E3CA0"/>
                  </a:solidFill>
                  <a:effectLst/>
                  <a:uFillTx/>
                  <a:latin typeface="Cambria"/>
                </a:rPr>
                <a:t>...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10" name="直接箭头连接符 1009">
              <a:extLst>
                <a:ext uri="{FF2B5EF4-FFF2-40B4-BE49-F238E27FC236}">
                  <a16:creationId xmlns:a16="http://schemas.microsoft.com/office/drawing/2014/main" id="{75422463-5B83-75B1-DEEF-43319B50F0FA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925" y="1609725"/>
              <a:ext cx="4762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直接箭头连接符 1013">
              <a:extLst>
                <a:ext uri="{FF2B5EF4-FFF2-40B4-BE49-F238E27FC236}">
                  <a16:creationId xmlns:a16="http://schemas.microsoft.com/office/drawing/2014/main" id="{29F1612F-D331-F494-A978-E30378C26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575" y="1235075"/>
              <a:ext cx="0" cy="381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0" name="直接箭头连接符 1019">
            <a:extLst>
              <a:ext uri="{FF2B5EF4-FFF2-40B4-BE49-F238E27FC236}">
                <a16:creationId xmlns:a16="http://schemas.microsoft.com/office/drawing/2014/main" id="{110211CB-EB7A-F48B-5D79-9AE442F8E906}"/>
              </a:ext>
            </a:extLst>
          </p:cNvPr>
          <p:cNvCxnSpPr>
            <a:cxnSpLocks/>
            <a:stCxn id="362" idx="2"/>
            <a:endCxn id="388" idx="0"/>
          </p:cNvCxnSpPr>
          <p:nvPr/>
        </p:nvCxnSpPr>
        <p:spPr>
          <a:xfrm flipH="1">
            <a:off x="10478475" y="2019300"/>
            <a:ext cx="2552" cy="757380"/>
          </a:xfrm>
          <a:prstGeom prst="straightConnector1">
            <a:avLst/>
          </a:prstGeom>
          <a:ln w="25400">
            <a:solidFill>
              <a:srgbClr val="5176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直接箭头连接符 1020">
            <a:extLst>
              <a:ext uri="{FF2B5EF4-FFF2-40B4-BE49-F238E27FC236}">
                <a16:creationId xmlns:a16="http://schemas.microsoft.com/office/drawing/2014/main" id="{864C73D8-8856-ED01-E407-716B43823420}"/>
              </a:ext>
            </a:extLst>
          </p:cNvPr>
          <p:cNvCxnSpPr>
            <a:cxnSpLocks/>
            <a:stCxn id="367" idx="2"/>
            <a:endCxn id="381" idx="0"/>
          </p:cNvCxnSpPr>
          <p:nvPr/>
        </p:nvCxnSpPr>
        <p:spPr>
          <a:xfrm flipH="1">
            <a:off x="11646570" y="1527174"/>
            <a:ext cx="917" cy="251586"/>
          </a:xfrm>
          <a:prstGeom prst="straightConnector1">
            <a:avLst/>
          </a:prstGeom>
          <a:ln w="19050">
            <a:solidFill>
              <a:srgbClr val="5176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C57DB54-74BE-5B8C-F81A-B5B67F2DF1DF}"/>
              </a:ext>
            </a:extLst>
          </p:cNvPr>
          <p:cNvCxnSpPr>
            <a:cxnSpLocks/>
            <a:stCxn id="389" idx="1"/>
            <a:endCxn id="388" idx="3"/>
          </p:cNvCxnSpPr>
          <p:nvPr/>
        </p:nvCxnSpPr>
        <p:spPr>
          <a:xfrm flipH="1">
            <a:off x="10816240" y="3060253"/>
            <a:ext cx="380360" cy="287"/>
          </a:xfrm>
          <a:prstGeom prst="straightConnector1">
            <a:avLst/>
          </a:prstGeom>
          <a:ln w="25400">
            <a:solidFill>
              <a:srgbClr val="5176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E6D22AA-C039-0BD9-A42A-204F2970E73A}"/>
              </a:ext>
            </a:extLst>
          </p:cNvPr>
          <p:cNvGrpSpPr/>
          <p:nvPr/>
        </p:nvGrpSpPr>
        <p:grpSpPr>
          <a:xfrm>
            <a:off x="8672613" y="1640411"/>
            <a:ext cx="418769" cy="465548"/>
            <a:chOff x="8689163" y="941760"/>
            <a:chExt cx="660397" cy="694800"/>
          </a:xfrm>
        </p:grpSpPr>
        <p:sp>
          <p:nvSpPr>
            <p:cNvPr id="51" name="Oval 238">
              <a:extLst>
                <a:ext uri="{FF2B5EF4-FFF2-40B4-BE49-F238E27FC236}">
                  <a16:creationId xmlns:a16="http://schemas.microsoft.com/office/drawing/2014/main" id="{A81850D1-F08E-BA04-242F-25E637243A05}"/>
                </a:ext>
              </a:extLst>
            </p:cNvPr>
            <p:cNvSpPr/>
            <p:nvPr/>
          </p:nvSpPr>
          <p:spPr>
            <a:xfrm>
              <a:off x="8966160" y="94176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4" name="Oval 239">
              <a:extLst>
                <a:ext uri="{FF2B5EF4-FFF2-40B4-BE49-F238E27FC236}">
                  <a16:creationId xmlns:a16="http://schemas.microsoft.com/office/drawing/2014/main" id="{D7C81346-0076-EAD4-C762-144DE73D8E86}"/>
                </a:ext>
              </a:extLst>
            </p:cNvPr>
            <p:cNvSpPr/>
            <p:nvPr/>
          </p:nvSpPr>
          <p:spPr>
            <a:xfrm>
              <a:off x="9258480" y="94176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" name="Oval 240">
              <a:extLst>
                <a:ext uri="{FF2B5EF4-FFF2-40B4-BE49-F238E27FC236}">
                  <a16:creationId xmlns:a16="http://schemas.microsoft.com/office/drawing/2014/main" id="{4FE4253F-04DC-B7EB-8FB6-FA48F7C3840F}"/>
                </a:ext>
              </a:extLst>
            </p:cNvPr>
            <p:cNvSpPr/>
            <p:nvPr/>
          </p:nvSpPr>
          <p:spPr>
            <a:xfrm>
              <a:off x="8689163" y="124865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" name="Oval 241">
              <a:extLst>
                <a:ext uri="{FF2B5EF4-FFF2-40B4-BE49-F238E27FC236}">
                  <a16:creationId xmlns:a16="http://schemas.microsoft.com/office/drawing/2014/main" id="{88CD0B3F-5769-8A64-FEDD-4FAB8D50940A}"/>
                </a:ext>
              </a:extLst>
            </p:cNvPr>
            <p:cNvSpPr/>
            <p:nvPr/>
          </p:nvSpPr>
          <p:spPr>
            <a:xfrm>
              <a:off x="8966160" y="114300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8" name="Oval 242">
              <a:extLst>
                <a:ext uri="{FF2B5EF4-FFF2-40B4-BE49-F238E27FC236}">
                  <a16:creationId xmlns:a16="http://schemas.microsoft.com/office/drawing/2014/main" id="{D3B082ED-8039-1130-D027-65D7DA2731F1}"/>
                </a:ext>
              </a:extLst>
            </p:cNvPr>
            <p:cNvSpPr/>
            <p:nvPr/>
          </p:nvSpPr>
          <p:spPr>
            <a:xfrm>
              <a:off x="9258480" y="114300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Oval 244">
              <a:extLst>
                <a:ext uri="{FF2B5EF4-FFF2-40B4-BE49-F238E27FC236}">
                  <a16:creationId xmlns:a16="http://schemas.microsoft.com/office/drawing/2014/main" id="{CB90FBFF-15F1-A233-F2DE-AF7DBA45B5E1}"/>
                </a:ext>
              </a:extLst>
            </p:cNvPr>
            <p:cNvSpPr/>
            <p:nvPr/>
          </p:nvSpPr>
          <p:spPr>
            <a:xfrm>
              <a:off x="8966160" y="134424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2" name="Oval 245">
              <a:extLst>
                <a:ext uri="{FF2B5EF4-FFF2-40B4-BE49-F238E27FC236}">
                  <a16:creationId xmlns:a16="http://schemas.microsoft.com/office/drawing/2014/main" id="{E57C3F39-59A0-7F7A-A700-1D535EF7F2F2}"/>
                </a:ext>
              </a:extLst>
            </p:cNvPr>
            <p:cNvSpPr/>
            <p:nvPr/>
          </p:nvSpPr>
          <p:spPr>
            <a:xfrm>
              <a:off x="9258480" y="134424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" name="Oval 247">
              <a:extLst>
                <a:ext uri="{FF2B5EF4-FFF2-40B4-BE49-F238E27FC236}">
                  <a16:creationId xmlns:a16="http://schemas.microsoft.com/office/drawing/2014/main" id="{9B47152A-3C89-6DAA-1C02-2E0800B323CF}"/>
                </a:ext>
              </a:extLst>
            </p:cNvPr>
            <p:cNvSpPr/>
            <p:nvPr/>
          </p:nvSpPr>
          <p:spPr>
            <a:xfrm>
              <a:off x="8966160" y="154548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4" name="Oval 248">
              <a:extLst>
                <a:ext uri="{FF2B5EF4-FFF2-40B4-BE49-F238E27FC236}">
                  <a16:creationId xmlns:a16="http://schemas.microsoft.com/office/drawing/2014/main" id="{C1B2661F-34B0-C351-92DE-718CED28EC69}"/>
                </a:ext>
              </a:extLst>
            </p:cNvPr>
            <p:cNvSpPr/>
            <p:nvPr/>
          </p:nvSpPr>
          <p:spPr>
            <a:xfrm>
              <a:off x="9258480" y="1545480"/>
              <a:ext cx="91080" cy="91080"/>
            </a:xfrm>
            <a:prstGeom prst="ellipse">
              <a:avLst/>
            </a:prstGeom>
            <a:solidFill>
              <a:srgbClr val="E8F3FF"/>
            </a:solidFill>
            <a:ln>
              <a:solidFill>
                <a:srgbClr val="84CBFF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19440" rIns="90000" bIns="1944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65" name="Connector 253">
              <a:extLst>
                <a:ext uri="{FF2B5EF4-FFF2-40B4-BE49-F238E27FC236}">
                  <a16:creationId xmlns:a16="http://schemas.microsoft.com/office/drawing/2014/main" id="{995706B4-4FB6-0C23-6AFE-EA488473456B}"/>
                </a:ext>
              </a:extLst>
            </p:cNvPr>
            <p:cNvCxnSpPr/>
            <p:nvPr/>
          </p:nvCxnSpPr>
          <p:spPr>
            <a:xfrm>
              <a:off x="9011520" y="98748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66" name="Connector 255">
              <a:extLst>
                <a:ext uri="{FF2B5EF4-FFF2-40B4-BE49-F238E27FC236}">
                  <a16:creationId xmlns:a16="http://schemas.microsoft.com/office/drawing/2014/main" id="{2EBB609E-6D50-2875-7A7B-EF91491AC8B9}"/>
                </a:ext>
              </a:extLst>
            </p:cNvPr>
            <p:cNvCxnSpPr/>
            <p:nvPr/>
          </p:nvCxnSpPr>
          <p:spPr>
            <a:xfrm>
              <a:off x="9011520" y="98748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67" name="Connector 257">
              <a:extLst>
                <a:ext uri="{FF2B5EF4-FFF2-40B4-BE49-F238E27FC236}">
                  <a16:creationId xmlns:a16="http://schemas.microsoft.com/office/drawing/2014/main" id="{9D631853-7BB4-57DC-C53D-F15C39F3A22E}"/>
                </a:ext>
              </a:extLst>
            </p:cNvPr>
            <p:cNvCxnSpPr/>
            <p:nvPr/>
          </p:nvCxnSpPr>
          <p:spPr>
            <a:xfrm>
              <a:off x="9011520" y="98748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68" name="Connector 259">
              <a:extLst>
                <a:ext uri="{FF2B5EF4-FFF2-40B4-BE49-F238E27FC236}">
                  <a16:creationId xmlns:a16="http://schemas.microsoft.com/office/drawing/2014/main" id="{26211A7A-1889-2DB4-DEE4-0AD02160AA0C}"/>
                </a:ext>
              </a:extLst>
            </p:cNvPr>
            <p:cNvCxnSpPr/>
            <p:nvPr/>
          </p:nvCxnSpPr>
          <p:spPr>
            <a:xfrm>
              <a:off x="9011520" y="987480"/>
              <a:ext cx="293040" cy="60372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69" name="Connector 262">
              <a:extLst>
                <a:ext uri="{FF2B5EF4-FFF2-40B4-BE49-F238E27FC236}">
                  <a16:creationId xmlns:a16="http://schemas.microsoft.com/office/drawing/2014/main" id="{2763763F-39C0-A9E8-B069-D63620A98851}"/>
                </a:ext>
              </a:extLst>
            </p:cNvPr>
            <p:cNvCxnSpPr>
              <a:cxnSpLocks/>
              <a:stCxn id="55" idx="7"/>
            </p:cNvCxnSpPr>
            <p:nvPr/>
          </p:nvCxnSpPr>
          <p:spPr>
            <a:xfrm flipV="1">
              <a:off x="8766904" y="987480"/>
              <a:ext cx="244976" cy="274508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0" name="Connector 263">
              <a:extLst>
                <a:ext uri="{FF2B5EF4-FFF2-40B4-BE49-F238E27FC236}">
                  <a16:creationId xmlns:a16="http://schemas.microsoft.com/office/drawing/2014/main" id="{5D459143-7F63-71DD-E41B-7EBA96FD59A9}"/>
                </a:ext>
              </a:extLst>
            </p:cNvPr>
            <p:cNvCxnSpPr/>
            <p:nvPr/>
          </p:nvCxnSpPr>
          <p:spPr>
            <a:xfrm flipV="1">
              <a:off x="9011520" y="98748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1" name="Connector 264">
              <a:extLst>
                <a:ext uri="{FF2B5EF4-FFF2-40B4-BE49-F238E27FC236}">
                  <a16:creationId xmlns:a16="http://schemas.microsoft.com/office/drawing/2014/main" id="{DAC22139-9EE5-D9DA-1336-F8A07B5FDF77}"/>
                </a:ext>
              </a:extLst>
            </p:cNvPr>
            <p:cNvCxnSpPr>
              <a:cxnSpLocks/>
              <a:stCxn id="55" idx="6"/>
            </p:cNvCxnSpPr>
            <p:nvPr/>
          </p:nvCxnSpPr>
          <p:spPr>
            <a:xfrm flipV="1">
              <a:off x="8780243" y="1189079"/>
              <a:ext cx="231637" cy="105111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2" name="Connector 265">
              <a:extLst>
                <a:ext uri="{FF2B5EF4-FFF2-40B4-BE49-F238E27FC236}">
                  <a16:creationId xmlns:a16="http://schemas.microsoft.com/office/drawing/2014/main" id="{A0A69420-C578-307A-CABD-74F5C1EB6AFD}"/>
                </a:ext>
              </a:extLst>
            </p:cNvPr>
            <p:cNvCxnSpPr/>
            <p:nvPr/>
          </p:nvCxnSpPr>
          <p:spPr>
            <a:xfrm>
              <a:off x="9011520" y="118872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3" name="Connector 266">
              <a:extLst>
                <a:ext uri="{FF2B5EF4-FFF2-40B4-BE49-F238E27FC236}">
                  <a16:creationId xmlns:a16="http://schemas.microsoft.com/office/drawing/2014/main" id="{DBBDE644-F884-4CFA-A168-D16529AE8496}"/>
                </a:ext>
              </a:extLst>
            </p:cNvPr>
            <p:cNvCxnSpPr>
              <a:cxnSpLocks/>
              <a:stCxn id="55" idx="6"/>
            </p:cNvCxnSpPr>
            <p:nvPr/>
          </p:nvCxnSpPr>
          <p:spPr>
            <a:xfrm>
              <a:off x="8780243" y="1294190"/>
              <a:ext cx="231638" cy="95769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4" name="Connector 267">
              <a:extLst>
                <a:ext uri="{FF2B5EF4-FFF2-40B4-BE49-F238E27FC236}">
                  <a16:creationId xmlns:a16="http://schemas.microsoft.com/office/drawing/2014/main" id="{339CD9A3-6EC1-E56F-5901-959D94E4CDF6}"/>
                </a:ext>
              </a:extLst>
            </p:cNvPr>
            <p:cNvCxnSpPr/>
            <p:nvPr/>
          </p:nvCxnSpPr>
          <p:spPr>
            <a:xfrm>
              <a:off x="9011520" y="1188720"/>
              <a:ext cx="293040" cy="20124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8" name="Connector 268">
              <a:extLst>
                <a:ext uri="{FF2B5EF4-FFF2-40B4-BE49-F238E27FC236}">
                  <a16:creationId xmlns:a16="http://schemas.microsoft.com/office/drawing/2014/main" id="{EDD24CED-C04D-4033-2050-43FB811C519D}"/>
                </a:ext>
              </a:extLst>
            </p:cNvPr>
            <p:cNvCxnSpPr>
              <a:cxnSpLocks/>
              <a:stCxn id="55" idx="5"/>
            </p:cNvCxnSpPr>
            <p:nvPr/>
          </p:nvCxnSpPr>
          <p:spPr>
            <a:xfrm>
              <a:off x="8766904" y="1326392"/>
              <a:ext cx="244976" cy="264808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79" name="Connector 269">
              <a:extLst>
                <a:ext uri="{FF2B5EF4-FFF2-40B4-BE49-F238E27FC236}">
                  <a16:creationId xmlns:a16="http://schemas.microsoft.com/office/drawing/2014/main" id="{7033CB56-5DB9-A827-CB61-0FAF592D484B}"/>
                </a:ext>
              </a:extLst>
            </p:cNvPr>
            <p:cNvCxnSpPr/>
            <p:nvPr/>
          </p:nvCxnSpPr>
          <p:spPr>
            <a:xfrm>
              <a:off x="9011520" y="118872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80" name="Connector 273">
              <a:extLst>
                <a:ext uri="{FF2B5EF4-FFF2-40B4-BE49-F238E27FC236}">
                  <a16:creationId xmlns:a16="http://schemas.microsoft.com/office/drawing/2014/main" id="{1505BC8C-C787-0390-0A93-685E38DB4769}"/>
                </a:ext>
              </a:extLst>
            </p:cNvPr>
            <p:cNvCxnSpPr/>
            <p:nvPr/>
          </p:nvCxnSpPr>
          <p:spPr>
            <a:xfrm flipV="1">
              <a:off x="9011520" y="98748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81" name="Connector 275">
              <a:extLst>
                <a:ext uri="{FF2B5EF4-FFF2-40B4-BE49-F238E27FC236}">
                  <a16:creationId xmlns:a16="http://schemas.microsoft.com/office/drawing/2014/main" id="{2F6CC96B-2C1E-76E2-0403-1BF44FCC71C6}"/>
                </a:ext>
              </a:extLst>
            </p:cNvPr>
            <p:cNvCxnSpPr/>
            <p:nvPr/>
          </p:nvCxnSpPr>
          <p:spPr>
            <a:xfrm flipV="1">
              <a:off x="9011520" y="1188720"/>
              <a:ext cx="293040" cy="20124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238" name="Connector 277">
              <a:extLst>
                <a:ext uri="{FF2B5EF4-FFF2-40B4-BE49-F238E27FC236}">
                  <a16:creationId xmlns:a16="http://schemas.microsoft.com/office/drawing/2014/main" id="{E9B40A4F-1248-961E-1FC8-02293BFE9076}"/>
                </a:ext>
              </a:extLst>
            </p:cNvPr>
            <p:cNvCxnSpPr/>
            <p:nvPr/>
          </p:nvCxnSpPr>
          <p:spPr>
            <a:xfrm>
              <a:off x="9011520" y="138960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251" name="Connector 279">
              <a:extLst>
                <a:ext uri="{FF2B5EF4-FFF2-40B4-BE49-F238E27FC236}">
                  <a16:creationId xmlns:a16="http://schemas.microsoft.com/office/drawing/2014/main" id="{AB90E46F-0014-DB68-E100-CF2375950DA0}"/>
                </a:ext>
              </a:extLst>
            </p:cNvPr>
            <p:cNvCxnSpPr/>
            <p:nvPr/>
          </p:nvCxnSpPr>
          <p:spPr>
            <a:xfrm>
              <a:off x="9011520" y="138960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253" name="Connector 283">
              <a:extLst>
                <a:ext uri="{FF2B5EF4-FFF2-40B4-BE49-F238E27FC236}">
                  <a16:creationId xmlns:a16="http://schemas.microsoft.com/office/drawing/2014/main" id="{B089692F-22E0-C1E9-1F36-7CB3F3C3FC22}"/>
                </a:ext>
              </a:extLst>
            </p:cNvPr>
            <p:cNvCxnSpPr/>
            <p:nvPr/>
          </p:nvCxnSpPr>
          <p:spPr>
            <a:xfrm flipV="1">
              <a:off x="9011520" y="987480"/>
              <a:ext cx="293040" cy="60372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255" name="Connector 285">
              <a:extLst>
                <a:ext uri="{FF2B5EF4-FFF2-40B4-BE49-F238E27FC236}">
                  <a16:creationId xmlns:a16="http://schemas.microsoft.com/office/drawing/2014/main" id="{8117CE6B-AE09-FEB0-2A80-90D797763414}"/>
                </a:ext>
              </a:extLst>
            </p:cNvPr>
            <p:cNvCxnSpPr/>
            <p:nvPr/>
          </p:nvCxnSpPr>
          <p:spPr>
            <a:xfrm flipV="1">
              <a:off x="9011520" y="1188720"/>
              <a:ext cx="293040" cy="40248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257" name="Connector 287">
              <a:extLst>
                <a:ext uri="{FF2B5EF4-FFF2-40B4-BE49-F238E27FC236}">
                  <a16:creationId xmlns:a16="http://schemas.microsoft.com/office/drawing/2014/main" id="{3BF35BF8-1D57-ED3F-B7EC-B44D12EF71C4}"/>
                </a:ext>
              </a:extLst>
            </p:cNvPr>
            <p:cNvCxnSpPr/>
            <p:nvPr/>
          </p:nvCxnSpPr>
          <p:spPr>
            <a:xfrm flipV="1">
              <a:off x="9011520" y="1389600"/>
              <a:ext cx="293040" cy="20160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  <p:cxnSp>
          <p:nvCxnSpPr>
            <p:cNvPr id="259" name="Connector 289">
              <a:extLst>
                <a:ext uri="{FF2B5EF4-FFF2-40B4-BE49-F238E27FC236}">
                  <a16:creationId xmlns:a16="http://schemas.microsoft.com/office/drawing/2014/main" id="{CBC6B6DB-7C7A-54E0-1191-712DCA501FE4}"/>
                </a:ext>
              </a:extLst>
            </p:cNvPr>
            <p:cNvCxnSpPr/>
            <p:nvPr/>
          </p:nvCxnSpPr>
          <p:spPr>
            <a:xfrm>
              <a:off x="9011520" y="1590840"/>
              <a:ext cx="293040" cy="360"/>
            </a:xfrm>
            <a:prstGeom prst="straightConnector1">
              <a:avLst/>
            </a:prstGeom>
            <a:ln w="7620">
              <a:solidFill>
                <a:srgbClr val="84CBFF"/>
              </a:solidFill>
              <a:round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Rounded Rectangle 304">
                <a:extLst>
                  <a:ext uri="{FF2B5EF4-FFF2-40B4-BE49-F238E27FC236}">
                    <a16:creationId xmlns:a16="http://schemas.microsoft.com/office/drawing/2014/main" id="{D3CB758C-45A2-1C8A-0B50-8D0B6127C4FC}"/>
                  </a:ext>
                </a:extLst>
              </p:cNvPr>
              <p:cNvSpPr/>
              <p:nvPr/>
            </p:nvSpPr>
            <p:spPr>
              <a:xfrm>
                <a:off x="9403212" y="1645590"/>
                <a:ext cx="355365" cy="524015"/>
              </a:xfrm>
              <a:prstGeom prst="roundRect">
                <a:avLst>
                  <a:gd name="adj" fmla="val 16667"/>
                </a:avLst>
              </a:prstGeom>
              <a:solidFill>
                <a:srgbClr val="F6FBFF"/>
              </a:solid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vert="horz" lIns="25560" tIns="12600" rIns="25560" bIns="12600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𝑐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2(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𝑡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</m:t>
                      </m:r>
                      <m:d>
                        <m:dPr>
                          <m:ctrlP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80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2(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𝑡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800" i="1" u="none" strike="noStrike" dirty="0">
                  <a:solidFill>
                    <a:srgbClr val="1E3CA0"/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𝑑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2(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𝑡</m:t>
                      </m:r>
                      <m:r>
                        <a:rPr lang="en-US" altLang="zh-CN" sz="80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68" name="Rounded Rectangle 304">
                <a:extLst>
                  <a:ext uri="{FF2B5EF4-FFF2-40B4-BE49-F238E27FC236}">
                    <a16:creationId xmlns:a16="http://schemas.microsoft.com/office/drawing/2014/main" id="{D3CB758C-45A2-1C8A-0B50-8D0B6127C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212" y="1645590"/>
                <a:ext cx="355365" cy="524015"/>
              </a:xfrm>
              <a:prstGeom prst="roundRect">
                <a:avLst>
                  <a:gd name="adj" fmla="val 16667"/>
                </a:avLst>
              </a:prstGeom>
              <a:blipFill>
                <a:blip r:embed="rId40"/>
                <a:stretch>
                  <a:fillRect/>
                </a:stretch>
              </a:blipFill>
              <a:ln w="12700">
                <a:solidFill>
                  <a:srgbClr val="DCDCDC"/>
                </a:solidFill>
                <a:round/>
              </a:ln>
              <a:effectLst>
                <a:outerShdw blurRad="39960" dist="2304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9" name="箭头: 右 268">
            <a:extLst>
              <a:ext uri="{FF2B5EF4-FFF2-40B4-BE49-F238E27FC236}">
                <a16:creationId xmlns:a16="http://schemas.microsoft.com/office/drawing/2014/main" id="{167621C8-D665-3166-19A9-24F7B9F3B1AC}"/>
              </a:ext>
            </a:extLst>
          </p:cNvPr>
          <p:cNvSpPr/>
          <p:nvPr/>
        </p:nvSpPr>
        <p:spPr>
          <a:xfrm>
            <a:off x="9134788" y="1256297"/>
            <a:ext cx="235746" cy="110119"/>
          </a:xfrm>
          <a:prstGeom prst="rightArrow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箭头: 右 269">
            <a:extLst>
              <a:ext uri="{FF2B5EF4-FFF2-40B4-BE49-F238E27FC236}">
                <a16:creationId xmlns:a16="http://schemas.microsoft.com/office/drawing/2014/main" id="{4E181039-D529-7980-A42B-468630F3E4AD}"/>
              </a:ext>
            </a:extLst>
          </p:cNvPr>
          <p:cNvSpPr/>
          <p:nvPr/>
        </p:nvSpPr>
        <p:spPr>
          <a:xfrm>
            <a:off x="9132096" y="1830592"/>
            <a:ext cx="235746" cy="110119"/>
          </a:xfrm>
          <a:prstGeom prst="rightArrow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" name="弧形 1048">
            <a:extLst>
              <a:ext uri="{FF2B5EF4-FFF2-40B4-BE49-F238E27FC236}">
                <a16:creationId xmlns:a16="http://schemas.microsoft.com/office/drawing/2014/main" id="{E95D6658-73A8-1601-2CCE-CBF4199C9910}"/>
              </a:ext>
            </a:extLst>
          </p:cNvPr>
          <p:cNvSpPr/>
          <p:nvPr/>
        </p:nvSpPr>
        <p:spPr>
          <a:xfrm rot="6160792">
            <a:off x="9168517" y="1612694"/>
            <a:ext cx="1230353" cy="893452"/>
          </a:xfrm>
          <a:prstGeom prst="arc">
            <a:avLst>
              <a:gd name="adj1" fmla="val 15493162"/>
              <a:gd name="adj2" fmla="val 21564102"/>
            </a:avLst>
          </a:prstGeom>
          <a:ln w="25400">
            <a:solidFill>
              <a:srgbClr val="84CB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Chevron 309">
            <a:extLst>
              <a:ext uri="{FF2B5EF4-FFF2-40B4-BE49-F238E27FC236}">
                <a16:creationId xmlns:a16="http://schemas.microsoft.com/office/drawing/2014/main" id="{32299B51-CEDE-0E45-DCEC-689F9933FC7B}"/>
              </a:ext>
            </a:extLst>
          </p:cNvPr>
          <p:cNvSpPr/>
          <p:nvPr/>
        </p:nvSpPr>
        <p:spPr>
          <a:xfrm rot="16820166">
            <a:off x="10162101" y="2025501"/>
            <a:ext cx="118440" cy="91080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0" name="弧形 1049">
            <a:extLst>
              <a:ext uri="{FF2B5EF4-FFF2-40B4-BE49-F238E27FC236}">
                <a16:creationId xmlns:a16="http://schemas.microsoft.com/office/drawing/2014/main" id="{C64A9CBF-F245-FDBB-D67C-B100C6DB5C12}"/>
              </a:ext>
            </a:extLst>
          </p:cNvPr>
          <p:cNvSpPr/>
          <p:nvPr/>
        </p:nvSpPr>
        <p:spPr>
          <a:xfrm rot="6160792">
            <a:off x="8926021" y="1498207"/>
            <a:ext cx="1713138" cy="1165977"/>
          </a:xfrm>
          <a:prstGeom prst="arc">
            <a:avLst>
              <a:gd name="adj1" fmla="val 15493162"/>
              <a:gd name="adj2" fmla="val 21564102"/>
            </a:avLst>
          </a:prstGeom>
          <a:ln w="25400">
            <a:solidFill>
              <a:srgbClr val="84CB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1" name="Chevron 309">
            <a:extLst>
              <a:ext uri="{FF2B5EF4-FFF2-40B4-BE49-F238E27FC236}">
                <a16:creationId xmlns:a16="http://schemas.microsoft.com/office/drawing/2014/main" id="{391C8773-2024-3B34-A89C-074A2D2EC031}"/>
              </a:ext>
            </a:extLst>
          </p:cNvPr>
          <p:cNvSpPr/>
          <p:nvPr/>
        </p:nvSpPr>
        <p:spPr>
          <a:xfrm rot="16516118">
            <a:off x="10311522" y="2021385"/>
            <a:ext cx="118440" cy="91080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F246BAE6-11A3-58C8-7D5F-BE014F80CE16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60" y="4632127"/>
            <a:ext cx="3660543" cy="1774891"/>
          </a:xfrm>
          <a:prstGeom prst="rect">
            <a:avLst/>
          </a:prstGeom>
        </p:spPr>
      </p:pic>
      <p:grpSp>
        <p:nvGrpSpPr>
          <p:cNvPr id="1065" name="组合 1064">
            <a:extLst>
              <a:ext uri="{FF2B5EF4-FFF2-40B4-BE49-F238E27FC236}">
                <a16:creationId xmlns:a16="http://schemas.microsoft.com/office/drawing/2014/main" id="{EF20EE33-63CF-3D0D-CE56-291CF87A9BD6}"/>
              </a:ext>
            </a:extLst>
          </p:cNvPr>
          <p:cNvGrpSpPr/>
          <p:nvPr/>
        </p:nvGrpSpPr>
        <p:grpSpPr>
          <a:xfrm>
            <a:off x="4205872" y="5623934"/>
            <a:ext cx="1912198" cy="1543016"/>
            <a:chOff x="4205872" y="5577205"/>
            <a:chExt cx="1912198" cy="1543016"/>
          </a:xfrm>
        </p:grpSpPr>
        <p:sp>
          <p:nvSpPr>
            <p:cNvPr id="494" name="Rounded Rectangle 438"/>
            <p:cNvSpPr/>
            <p:nvPr/>
          </p:nvSpPr>
          <p:spPr>
            <a:xfrm>
              <a:off x="4205872" y="5577205"/>
              <a:ext cx="1912198" cy="154301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E6E6E6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altLang="zh-CN" sz="1050" dirty="0">
                  <a:solidFill>
                    <a:srgbClr val="1E3C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Pairwise distance matrix</a:t>
              </a: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altLang="zh-CN" sz="105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58" name="图片 1057">
              <a:extLst>
                <a:ext uri="{FF2B5EF4-FFF2-40B4-BE49-F238E27FC236}">
                  <a16:creationId xmlns:a16="http://schemas.microsoft.com/office/drawing/2014/main" id="{74A85BD8-89F5-0C09-6304-40711B3F5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7458" y="5871058"/>
              <a:ext cx="1596648" cy="1213539"/>
            </a:xfrm>
            <a:prstGeom prst="rect">
              <a:avLst/>
            </a:prstGeom>
          </p:spPr>
        </p:pic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1A47E833-28AE-6858-B2D2-EAE8691CDED8}"/>
              </a:ext>
            </a:extLst>
          </p:cNvPr>
          <p:cNvGrpSpPr/>
          <p:nvPr/>
        </p:nvGrpSpPr>
        <p:grpSpPr>
          <a:xfrm>
            <a:off x="4298394" y="4463034"/>
            <a:ext cx="1056644" cy="872818"/>
            <a:chOff x="4215172" y="4477597"/>
            <a:chExt cx="1056644" cy="872818"/>
          </a:xfrm>
        </p:grpSpPr>
        <p:sp>
          <p:nvSpPr>
            <p:cNvPr id="492" name="Rounded Rectangle 436"/>
            <p:cNvSpPr/>
            <p:nvPr/>
          </p:nvSpPr>
          <p:spPr>
            <a:xfrm>
              <a:off x="4215172" y="4477597"/>
              <a:ext cx="1056644" cy="87281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5560" tIns="12600" rIns="25560" bIns="126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96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Baseline solution</a:t>
              </a:r>
              <a:endParaRPr lang="en-US" sz="96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en-US" sz="96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(1 example)</a:t>
              </a:r>
            </a:p>
            <a:p>
              <a:pPr algn="ctr" defTabSz="457200">
                <a:lnSpc>
                  <a:spcPct val="100000"/>
                </a:lnSpc>
              </a:pPr>
              <a:endParaRPr lang="en-US" sz="96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6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6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6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FDC296EA-2DC0-FAD7-79D3-5A785C1F2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6893" y="4790355"/>
              <a:ext cx="889031" cy="493544"/>
            </a:xfrm>
            <a:prstGeom prst="rect">
              <a:avLst/>
            </a:prstGeom>
          </p:spPr>
        </p:pic>
      </p:grpSp>
      <p:grpSp>
        <p:nvGrpSpPr>
          <p:cNvPr id="1063" name="组合 1062">
            <a:extLst>
              <a:ext uri="{FF2B5EF4-FFF2-40B4-BE49-F238E27FC236}">
                <a16:creationId xmlns:a16="http://schemas.microsoft.com/office/drawing/2014/main" id="{B610ED89-56B6-FEA7-B73C-FD8E7E99359F}"/>
              </a:ext>
            </a:extLst>
          </p:cNvPr>
          <p:cNvGrpSpPr/>
          <p:nvPr/>
        </p:nvGrpSpPr>
        <p:grpSpPr>
          <a:xfrm>
            <a:off x="5474224" y="4402133"/>
            <a:ext cx="1539710" cy="1096215"/>
            <a:chOff x="5503675" y="4366182"/>
            <a:chExt cx="1539710" cy="1096215"/>
          </a:xfrm>
        </p:grpSpPr>
        <p:sp>
          <p:nvSpPr>
            <p:cNvPr id="493" name="Rounded Rectangle 437"/>
            <p:cNvSpPr/>
            <p:nvPr/>
          </p:nvSpPr>
          <p:spPr>
            <a:xfrm>
              <a:off x="5503675" y="4366182"/>
              <a:ext cx="1537142" cy="1096215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DCDCDC"/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5560" tIns="12600" rIns="25560" bIns="126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92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Many admissible</a:t>
              </a:r>
              <a:endParaRPr lang="en-US" sz="92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en-US" sz="920" b="0" u="none" strike="noStrike" dirty="0">
                  <a:solidFill>
                    <a:srgbClr val="1E3C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Solutions</a:t>
              </a:r>
              <a:endParaRPr lang="en-US" sz="92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2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2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20" b="0" u="none" strike="noStrike" dirty="0">
                <a:solidFill>
                  <a:srgbClr val="1E3C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20" dirty="0">
                <a:solidFill>
                  <a:srgbClr val="1E3C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57200">
                <a:lnSpc>
                  <a:spcPct val="100000"/>
                </a:lnSpc>
              </a:pPr>
              <a:endParaRPr lang="en-US" sz="92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62" name="图片 1061">
              <a:extLst>
                <a:ext uri="{FF2B5EF4-FFF2-40B4-BE49-F238E27FC236}">
                  <a16:creationId xmlns:a16="http://schemas.microsoft.com/office/drawing/2014/main" id="{15257E09-B346-C384-EB78-850DD2C17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7533" y="4653625"/>
              <a:ext cx="1535852" cy="766822"/>
            </a:xfrm>
            <a:prstGeom prst="rect">
              <a:avLst/>
            </a:prstGeom>
            <a:effectLst>
              <a:softEdge rad="50800"/>
            </a:effectLst>
          </p:spPr>
        </p:pic>
      </p:grpSp>
      <p:sp>
        <p:nvSpPr>
          <p:cNvPr id="1064" name="矩形: 圆角 1063">
            <a:extLst>
              <a:ext uri="{FF2B5EF4-FFF2-40B4-BE49-F238E27FC236}">
                <a16:creationId xmlns:a16="http://schemas.microsoft.com/office/drawing/2014/main" id="{CBCAF38B-E230-3A33-B94A-303F585AD273}"/>
              </a:ext>
            </a:extLst>
          </p:cNvPr>
          <p:cNvSpPr/>
          <p:nvPr/>
        </p:nvSpPr>
        <p:spPr>
          <a:xfrm>
            <a:off x="7116364" y="4437674"/>
            <a:ext cx="908255" cy="10251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100  main ensemble</a:t>
            </a:r>
          </a:p>
          <a:p>
            <a:pPr algn="ctr"/>
            <a:endParaRPr lang="en-US" altLang="zh-CN" sz="105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5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30, 50  sensitivity</a:t>
            </a:r>
          </a:p>
        </p:txBody>
      </p:sp>
      <p:sp>
        <p:nvSpPr>
          <p:cNvPr id="629" name="Chevron 573"/>
          <p:cNvSpPr/>
          <p:nvPr/>
        </p:nvSpPr>
        <p:spPr>
          <a:xfrm>
            <a:off x="5252137" y="4815838"/>
            <a:ext cx="195831" cy="134403"/>
          </a:xfrm>
          <a:prstGeom prst="chevron">
            <a:avLst>
              <a:gd name="adj" fmla="val 50000"/>
            </a:avLst>
          </a:prstGeom>
          <a:solidFill>
            <a:srgbClr val="84CBFF"/>
          </a:solidFill>
          <a:ln>
            <a:solidFill>
              <a:srgbClr val="84CB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0" name="图片 1069">
            <a:extLst>
              <a:ext uri="{FF2B5EF4-FFF2-40B4-BE49-F238E27FC236}">
                <a16:creationId xmlns:a16="http://schemas.microsoft.com/office/drawing/2014/main" id="{B4FBE541-B664-6BE3-2572-40D2DB6B08D2}"/>
              </a:ext>
            </a:extLst>
          </p:cNvPr>
          <p:cNvPicPr>
            <a:picLocks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70"/>
          <a:stretch>
            <a:fillRect/>
          </a:stretch>
        </p:blipFill>
        <p:spPr>
          <a:xfrm>
            <a:off x="405963" y="581025"/>
            <a:ext cx="3452897" cy="1881228"/>
          </a:xfrm>
          <a:prstGeom prst="rect">
            <a:avLst/>
          </a:prstGeom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0DCB9534-9300-09D6-5FF7-4EDE2A6AFC30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54" y="2445748"/>
            <a:ext cx="3188236" cy="1173696"/>
          </a:xfrm>
          <a:prstGeom prst="rect">
            <a:avLst/>
          </a:prstGeom>
        </p:spPr>
      </p:pic>
      <p:pic>
        <p:nvPicPr>
          <p:cNvPr id="1072" name="图片 1071">
            <a:extLst>
              <a:ext uri="{FF2B5EF4-FFF2-40B4-BE49-F238E27FC236}">
                <a16:creationId xmlns:a16="http://schemas.microsoft.com/office/drawing/2014/main" id="{3EFFF934-A907-CBF4-4EE2-BB2192DD578E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962366" y="1816473"/>
            <a:ext cx="865782" cy="607941"/>
          </a:xfrm>
          <a:prstGeom prst="rect">
            <a:avLst/>
          </a:prstGeom>
        </p:spPr>
      </p:pic>
      <p:sp>
        <p:nvSpPr>
          <p:cNvPr id="1075" name="Rounded Rectangle 942">
            <a:extLst>
              <a:ext uri="{FF2B5EF4-FFF2-40B4-BE49-F238E27FC236}">
                <a16:creationId xmlns:a16="http://schemas.microsoft.com/office/drawing/2014/main" id="{2D370B94-498D-8326-FF55-FF5323A34F87}"/>
              </a:ext>
            </a:extLst>
          </p:cNvPr>
          <p:cNvSpPr/>
          <p:nvPr/>
        </p:nvSpPr>
        <p:spPr>
          <a:xfrm>
            <a:off x="8406378" y="4964422"/>
            <a:ext cx="659129" cy="11010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6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6" name="图片 1075">
            <a:extLst>
              <a:ext uri="{FF2B5EF4-FFF2-40B4-BE49-F238E27FC236}">
                <a16:creationId xmlns:a16="http://schemas.microsoft.com/office/drawing/2014/main" id="{53F9BBE8-8FE9-6E4D-477C-8924E097A23B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730" y="5001677"/>
            <a:ext cx="572584" cy="1078886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1077" name="Chevron 915">
            <a:extLst>
              <a:ext uri="{FF2B5EF4-FFF2-40B4-BE49-F238E27FC236}">
                <a16:creationId xmlns:a16="http://schemas.microsoft.com/office/drawing/2014/main" id="{301987D0-7BED-7853-FEBC-5B6093753AFB}"/>
              </a:ext>
            </a:extLst>
          </p:cNvPr>
          <p:cNvSpPr/>
          <p:nvPr/>
        </p:nvSpPr>
        <p:spPr>
          <a:xfrm>
            <a:off x="10854680" y="5126250"/>
            <a:ext cx="184794" cy="126418"/>
          </a:xfrm>
          <a:prstGeom prst="chevron">
            <a:avLst>
              <a:gd name="adj" fmla="val 50000"/>
            </a:avLst>
          </a:prstGeom>
          <a:solidFill>
            <a:srgbClr val="5176D6"/>
          </a:solidFill>
          <a:ln>
            <a:solidFill>
              <a:srgbClr val="5176D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82" name="直接箭头连接符 1081">
            <a:extLst>
              <a:ext uri="{FF2B5EF4-FFF2-40B4-BE49-F238E27FC236}">
                <a16:creationId xmlns:a16="http://schemas.microsoft.com/office/drawing/2014/main" id="{8525532F-3AAE-1EC6-79DC-A0460940A990}"/>
              </a:ext>
            </a:extLst>
          </p:cNvPr>
          <p:cNvCxnSpPr>
            <a:cxnSpLocks/>
          </p:cNvCxnSpPr>
          <p:nvPr/>
        </p:nvCxnSpPr>
        <p:spPr>
          <a:xfrm flipV="1">
            <a:off x="4590218" y="1214306"/>
            <a:ext cx="0" cy="2751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91" name="TextBox 204">
                <a:extLst>
                  <a:ext uri="{FF2B5EF4-FFF2-40B4-BE49-F238E27FC236}">
                    <a16:creationId xmlns:a16="http://schemas.microsoft.com/office/drawing/2014/main" id="{BC0ABB22-516F-1673-E5EF-1A3275533923}"/>
                  </a:ext>
                </a:extLst>
              </p:cNvPr>
              <p:cNvSpPr/>
              <p:nvPr/>
            </p:nvSpPr>
            <p:spPr>
              <a:xfrm>
                <a:off x="4648041" y="1289267"/>
                <a:ext cx="424250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800" b="0" i="1" u="none" strike="noStrike" dirty="0" err="1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800" b="0" i="1" u="none" strike="noStrike" dirty="0" smtClean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u="none" strike="noStrike" dirty="0">
                              <a:solidFill>
                                <a:srgbClr val="1E3C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b="0" u="none" strike="noStrike" dirty="0">
                  <a:solidFill>
                    <a:srgbClr val="1E3CA0"/>
                  </a:solidFill>
                  <a:effectLst/>
                  <a:uFillTx/>
                </a:endParaRPr>
              </a:p>
            </p:txBody>
          </p:sp>
        </mc:Choice>
        <mc:Fallback>
          <p:sp>
            <p:nvSpPr>
              <p:cNvPr id="1091" name="TextBox 204">
                <a:extLst>
                  <a:ext uri="{FF2B5EF4-FFF2-40B4-BE49-F238E27FC236}">
                    <a16:creationId xmlns:a16="http://schemas.microsoft.com/office/drawing/2014/main" id="{BC0ABB22-516F-1673-E5EF-1A3275533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041" y="1289267"/>
                <a:ext cx="424250" cy="148557"/>
              </a:xfrm>
              <a:prstGeom prst="rect">
                <a:avLst/>
              </a:prstGeom>
              <a:blipFill>
                <a:blip r:embed="rId49"/>
                <a:stretch>
                  <a:fillRect b="-16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2" name="直接箭头连接符 1091">
            <a:extLst>
              <a:ext uri="{FF2B5EF4-FFF2-40B4-BE49-F238E27FC236}">
                <a16:creationId xmlns:a16="http://schemas.microsoft.com/office/drawing/2014/main" id="{E45A75A7-1F17-03ED-0A97-86ADA3FD726F}"/>
              </a:ext>
            </a:extLst>
          </p:cNvPr>
          <p:cNvCxnSpPr>
            <a:cxnSpLocks/>
            <a:stCxn id="249" idx="0"/>
            <a:endCxn id="247" idx="2"/>
          </p:cNvCxnSpPr>
          <p:nvPr/>
        </p:nvCxnSpPr>
        <p:spPr>
          <a:xfrm flipV="1">
            <a:off x="4954516" y="1179360"/>
            <a:ext cx="465644" cy="3440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96" name="TextBox 198">
                <a:extLst>
                  <a:ext uri="{FF2B5EF4-FFF2-40B4-BE49-F238E27FC236}">
                    <a16:creationId xmlns:a16="http://schemas.microsoft.com/office/drawing/2014/main" id="{6745F061-ADEA-39D9-DCEA-E98F6BAD6550}"/>
                  </a:ext>
                </a:extLst>
              </p:cNvPr>
              <p:cNvSpPr/>
              <p:nvPr/>
            </p:nvSpPr>
            <p:spPr>
              <a:xfrm>
                <a:off x="5113682" y="1219579"/>
                <a:ext cx="132529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96" name="TextBox 198">
                <a:extLst>
                  <a:ext uri="{FF2B5EF4-FFF2-40B4-BE49-F238E27FC236}">
                    <a16:creationId xmlns:a16="http://schemas.microsoft.com/office/drawing/2014/main" id="{6745F061-ADEA-39D9-DCEA-E98F6BAD6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682" y="1219579"/>
                <a:ext cx="132529" cy="148557"/>
              </a:xfrm>
              <a:prstGeom prst="rect">
                <a:avLst/>
              </a:prstGeom>
              <a:blipFill>
                <a:blip r:embed="rId50"/>
                <a:stretch>
                  <a:fillRect l="-9091" b="-125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6" name="直接箭头连接符 1105">
            <a:extLst>
              <a:ext uri="{FF2B5EF4-FFF2-40B4-BE49-F238E27FC236}">
                <a16:creationId xmlns:a16="http://schemas.microsoft.com/office/drawing/2014/main" id="{88402F7D-978A-0C5E-F549-8082F4E63A06}"/>
              </a:ext>
            </a:extLst>
          </p:cNvPr>
          <p:cNvCxnSpPr>
            <a:cxnSpLocks/>
            <a:stCxn id="266" idx="0"/>
            <a:endCxn id="264" idx="2"/>
          </p:cNvCxnSpPr>
          <p:nvPr/>
        </p:nvCxnSpPr>
        <p:spPr>
          <a:xfrm flipV="1">
            <a:off x="7013934" y="1179360"/>
            <a:ext cx="454266" cy="3514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9" name="TextBox 215">
                <a:extLst>
                  <a:ext uri="{FF2B5EF4-FFF2-40B4-BE49-F238E27FC236}">
                    <a16:creationId xmlns:a16="http://schemas.microsoft.com/office/drawing/2014/main" id="{8C687B4A-2247-B126-6137-C3A2C53EEF51}"/>
                  </a:ext>
                </a:extLst>
              </p:cNvPr>
              <p:cNvSpPr/>
              <p:nvPr/>
            </p:nvSpPr>
            <p:spPr>
              <a:xfrm>
                <a:off x="7185154" y="1221763"/>
                <a:ext cx="91080" cy="14855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25560" tIns="12600" rIns="25560" bIns="12600" anchor="ctr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u="none" strike="noStrike" dirty="0" smtClean="0">
                          <a:solidFill>
                            <a:srgbClr val="1E3CA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109" name="TextBox 215">
                <a:extLst>
                  <a:ext uri="{FF2B5EF4-FFF2-40B4-BE49-F238E27FC236}">
                    <a16:creationId xmlns:a16="http://schemas.microsoft.com/office/drawing/2014/main" id="{8C687B4A-2247-B126-6137-C3A2C53EE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154" y="1221763"/>
                <a:ext cx="91080" cy="148557"/>
              </a:xfrm>
              <a:prstGeom prst="rect">
                <a:avLst/>
              </a:prstGeom>
              <a:blipFill>
                <a:blip r:embed="rId51"/>
                <a:stretch>
                  <a:fillRect l="-33333" r="-6667" b="-12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446</Words>
  <Application>Microsoft Office PowerPoint</Application>
  <PresentationFormat>自定义</PresentationFormat>
  <Paragraphs>185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Arial</vt:lpstr>
      <vt:lpstr>Calibri</vt:lpstr>
      <vt:lpstr>Cambria</vt:lpstr>
      <vt:lpstr>Cambria Math</vt:lpstr>
      <vt:lpstr>Symbol</vt:lpstr>
      <vt:lpstr>Times New Roman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豪 王</cp:lastModifiedBy>
  <cp:revision>22</cp:revision>
  <dcterms:modified xsi:type="dcterms:W3CDTF">2026-09-15T07:44:56Z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